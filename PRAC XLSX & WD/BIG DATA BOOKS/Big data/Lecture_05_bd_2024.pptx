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13"/>
  </p:notesMasterIdLst>
  <p:sldIdLst>
    <p:sldId id="581" r:id="rId2"/>
    <p:sldId id="585" r:id="rId3"/>
    <p:sldId id="586" r:id="rId4"/>
    <p:sldId id="594" r:id="rId5"/>
    <p:sldId id="587" r:id="rId6"/>
    <p:sldId id="588" r:id="rId7"/>
    <p:sldId id="589" r:id="rId8"/>
    <p:sldId id="590" r:id="rId9"/>
    <p:sldId id="591" r:id="rId10"/>
    <p:sldId id="592" r:id="rId11"/>
    <p:sldId id="593" r:id="rId1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7D78B994-A058-40D5-ADC7-E2F660D0C7A2}">
          <p14:sldIdLst>
            <p14:sldId id="581"/>
            <p14:sldId id="585"/>
            <p14:sldId id="586"/>
            <p14:sldId id="594"/>
            <p14:sldId id="587"/>
            <p14:sldId id="588"/>
            <p14:sldId id="589"/>
            <p14:sldId id="590"/>
            <p14:sldId id="591"/>
            <p14:sldId id="592"/>
            <p14:sldId id="593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4" autoAdjust="0"/>
    <p:restoredTop sz="94660"/>
  </p:normalViewPr>
  <p:slideViewPr>
    <p:cSldViewPr>
      <p:cViewPr varScale="1">
        <p:scale>
          <a:sx n="69" d="100"/>
          <a:sy n="69" d="100"/>
        </p:scale>
        <p:origin x="1356" y="6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F73913A-8E1E-41DD-948F-686AAEFC4C1B}" type="datetimeFigureOut">
              <a:rPr lang="en-US" smtClean="0"/>
              <a:t>12/29/2024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E73EC06-D553-4595-823A-3F3D606A0F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09889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/>
          <p:cNvSpPr>
            <a:spLocks noGrp="1"/>
          </p:cNvSpPr>
          <p:nvPr>
            <p:ph type="ctrTitle"/>
          </p:nvPr>
        </p:nvSpPr>
        <p:spPr>
          <a:xfrm>
            <a:off x="1432560" y="359898"/>
            <a:ext cx="7406640" cy="1472184"/>
          </a:xfrm>
        </p:spPr>
        <p:txBody>
          <a:bodyPr anchor="b"/>
          <a:lstStyle>
            <a:lvl1pPr algn="l">
              <a:defRPr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22" name="Subtitle 21"/>
          <p:cNvSpPr>
            <a:spLocks noGrp="1"/>
          </p:cNvSpPr>
          <p:nvPr>
            <p:ph type="subTitle" idx="1"/>
          </p:nvPr>
        </p:nvSpPr>
        <p:spPr>
          <a:xfrm>
            <a:off x="1432560" y="1850064"/>
            <a:ext cx="7406640" cy="1752600"/>
          </a:xfrm>
        </p:spPr>
        <p:txBody>
          <a:bodyPr tIns="0"/>
          <a:lstStyle>
            <a:lvl1pPr marL="27432" indent="0" algn="l">
              <a:buNone/>
              <a:defRPr sz="26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443A09-2006-424B-B5C4-8FDAF1B52429}" type="datetime1">
              <a:rPr lang="en-US" smtClean="0"/>
              <a:t>12/29/2024</a:t>
            </a:fld>
            <a:endParaRPr lang="en-US"/>
          </a:p>
        </p:txBody>
      </p:sp>
      <p:sp>
        <p:nvSpPr>
          <p:cNvPr id="20" name="Footer Placeholder 1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Advanced Data Science: 1st Presentation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7CF3C-25E9-4E10-B1ED-2924A4A13E9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921433" y="1413802"/>
            <a:ext cx="210312" cy="210312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Oval 8"/>
          <p:cNvSpPr/>
          <p:nvPr/>
        </p:nvSpPr>
        <p:spPr>
          <a:xfrm>
            <a:off x="1157176" y="1345016"/>
            <a:ext cx="64008" cy="64008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BC8B5-2CA1-4941-8A59-830E2FFEC801}" type="datetime1">
              <a:rPr lang="en-US" smtClean="0"/>
              <a:t>12/29/2024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Advanced Data Science: 1st Presentation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7CF3C-25E9-4E10-B1ED-2924A4A13E9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282890" y="-54"/>
            <a:ext cx="6858000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8392" y="2600325"/>
            <a:ext cx="6400800" cy="2286000"/>
          </a:xfrm>
        </p:spPr>
        <p:txBody>
          <a:bodyPr anchor="t"/>
          <a:lstStyle>
            <a:lvl1pPr algn="l">
              <a:lnSpc>
                <a:spcPts val="4500"/>
              </a:lnSpc>
              <a:buNone/>
              <a:defRPr sz="4000" b="1" cap="all"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8392" y="1066800"/>
            <a:ext cx="6400800" cy="1509712"/>
          </a:xfrm>
        </p:spPr>
        <p:txBody>
          <a:bodyPr anchor="b"/>
          <a:lstStyle>
            <a:lvl1pPr marL="18288" indent="0">
              <a:lnSpc>
                <a:spcPts val="2300"/>
              </a:lnSpc>
              <a:spcBef>
                <a:spcPts val="0"/>
              </a:spcBef>
              <a:buNone/>
              <a:defRPr sz="20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CECBAF-DF99-4FBC-994C-E7734C3CE936}" type="datetime1">
              <a:rPr lang="en-US" smtClean="0"/>
              <a:t>12/29/2024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Advanced Data Science: 1st Presentation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7CF3C-25E9-4E10-B1ED-2924A4A13E9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Rectangle 9"/>
          <p:cNvSpPr/>
          <p:nvPr/>
        </p:nvSpPr>
        <p:spPr bwMode="invGray">
          <a:xfrm>
            <a:off x="2286000" y="0"/>
            <a:ext cx="76200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Oval 7"/>
          <p:cNvSpPr/>
          <p:nvPr/>
        </p:nvSpPr>
        <p:spPr>
          <a:xfrm>
            <a:off x="2172321" y="2814656"/>
            <a:ext cx="210312" cy="210312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Oval 8"/>
          <p:cNvSpPr/>
          <p:nvPr/>
        </p:nvSpPr>
        <p:spPr>
          <a:xfrm>
            <a:off x="2408064" y="2745870"/>
            <a:ext cx="64008" cy="64008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274320"/>
            <a:ext cx="7498080" cy="11430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35608" y="1524000"/>
            <a:ext cx="36576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76088" y="1524000"/>
            <a:ext cx="36576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6D4C13-2E17-462A-8DFD-0920D0C0CA2A}" type="datetime1">
              <a:rPr lang="en-US" smtClean="0"/>
              <a:t>12/29/2024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Advanced Data Science: 1st Presentation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7CF3C-25E9-4E10-B1ED-2924A4A13E9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160336"/>
            <a:ext cx="8229600" cy="1143000"/>
          </a:xfrm>
        </p:spPr>
        <p:txBody>
          <a:bodyPr anchor="ctr"/>
          <a:lstStyle>
            <a:lvl1pPr algn="ctr">
              <a:defRPr sz="4500" b="1" cap="none" baseline="0"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328278"/>
            <a:ext cx="4023360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63440" y="328278"/>
            <a:ext cx="4023360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969336"/>
            <a:ext cx="4023360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969336"/>
            <a:ext cx="4023360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0E548C-7CAE-4C7E-92FA-14C0E9856AE4}" type="datetime1">
              <a:rPr lang="en-US" smtClean="0"/>
              <a:t>12/29/2024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Advanced Data Science: 1st Presentation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7CF3C-25E9-4E10-B1ED-2924A4A13E9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274320"/>
            <a:ext cx="7498080" cy="1143000"/>
          </a:xfrm>
        </p:spPr>
        <p:txBody>
          <a:bodyPr anchor="ctr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902B65-D183-4E73-86F4-CB4719CCE74B}" type="datetime1">
              <a:rPr lang="en-US" smtClean="0"/>
              <a:t>12/29/2024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Advanced Data Science: 1st Presentation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7CF3C-25E9-4E10-B1ED-2924A4A13E9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014984" y="0"/>
            <a:ext cx="8129016" cy="6858000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8BF56-361E-4270-AF78-D214F4C8F8D2}" type="datetime1">
              <a:rPr lang="en-US" smtClean="0"/>
              <a:t>12/29/2024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Advanced Data Science: 1st Presentation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7CF3C-25E9-4E10-B1ED-2924A4A13E9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Rectangle 5"/>
          <p:cNvSpPr/>
          <p:nvPr/>
        </p:nvSpPr>
        <p:spPr bwMode="invGray">
          <a:xfrm>
            <a:off x="1014984" y="-54"/>
            <a:ext cx="73152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16778"/>
            <a:ext cx="3810000" cy="1162050"/>
          </a:xfrm>
          <a:ln>
            <a:noFill/>
          </a:ln>
        </p:spPr>
        <p:txBody>
          <a:bodyPr anchor="b"/>
          <a:lstStyle>
            <a:lvl1pPr algn="l">
              <a:lnSpc>
                <a:spcPts val="2000"/>
              </a:lnSpc>
              <a:buNone/>
              <a:defRPr sz="2200" b="1" cap="all" baseline="0"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57200" y="1406964"/>
            <a:ext cx="3810000" cy="698500"/>
          </a:xfrm>
        </p:spPr>
        <p:txBody>
          <a:bodyPr/>
          <a:lstStyle>
            <a:lvl1pPr marL="45720" indent="0">
              <a:lnSpc>
                <a:spcPct val="100000"/>
              </a:lnSpc>
              <a:spcBef>
                <a:spcPts val="0"/>
              </a:spcBef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457200" y="2133600"/>
            <a:ext cx="8153400" cy="399256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9F1885-E745-459C-8E23-33B6E53C3914}" type="datetime1">
              <a:rPr lang="en-US" smtClean="0"/>
              <a:t>12/29/2024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Advanced Data Science: 1st Presentation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7CF3C-25E9-4E10-B1ED-2924A4A13E9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86896" y="1066800"/>
            <a:ext cx="2743200" cy="1981200"/>
          </a:xfrm>
        </p:spPr>
        <p:txBody>
          <a:bodyPr anchor="b">
            <a:noAutofit/>
          </a:bodyPr>
          <a:lstStyle>
            <a:lvl1pPr algn="l">
              <a:buNone/>
              <a:defRPr sz="2100" b="1">
                <a:effectLst/>
              </a:defRPr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5477A4-1834-4EED-B01C-4A4C2D777A35}" type="datetime1">
              <a:rPr lang="en-US" smtClean="0"/>
              <a:t>12/29/2024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Advanced Data Science: 1st Presentation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7CF3C-25E9-4E10-B1ED-2924A4A13E9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62000" y="1066800"/>
            <a:ext cx="4572000" cy="4572000"/>
          </a:xfrm>
          <a:prstGeom prst="rect">
            <a:avLst/>
          </a:prstGeom>
          <a:solidFill>
            <a:srgbClr val="FFFFFF"/>
          </a:solidFill>
          <a:ln w="88900" cap="sq">
            <a:solidFill>
              <a:srgbClr val="FFFFFF"/>
            </a:solidFill>
            <a:miter lim="800000"/>
          </a:ln>
          <a:effectLst>
            <a:outerShdw blurRad="55500" dist="18500" dir="5400000" algn="tl" rotWithShape="0">
              <a:srgbClr val="000000">
                <a:alpha val="3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635">
            <a:bevelT w="25400" h="19050"/>
            <a:contourClr>
              <a:srgbClr val="969696"/>
            </a:contourClr>
          </a:sp3d>
        </p:spPr>
        <p:txBody>
          <a:bodyPr lIns="91440" tIns="274320" rtlCol="0" anchor="t">
            <a:normAutofit/>
          </a:bodyPr>
          <a:lstStyle/>
          <a:p>
            <a:pPr marL="0" indent="-283464" algn="l" rtl="0" eaLnBrk="1" latinLnBrk="0" hangingPunct="1">
              <a:lnSpc>
                <a:spcPts val="3000"/>
              </a:lnSpc>
              <a:spcBef>
                <a:spcPts val="600"/>
              </a:spcBef>
              <a:buClr>
                <a:schemeClr val="accent1"/>
              </a:buClr>
              <a:buSzPct val="80000"/>
              <a:buFont typeface="Wingdings 2"/>
              <a:buNone/>
            </a:pPr>
            <a:endParaRPr kumimoji="0" lang="en-US" sz="32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838200" y="1143003"/>
            <a:ext cx="4419600" cy="3514531"/>
          </a:xfrm>
          <a:prstGeom prst="roundRect">
            <a:avLst>
              <a:gd name="adj" fmla="val 783"/>
            </a:avLst>
          </a:prstGeom>
          <a:solidFill>
            <a:schemeClr val="bg2"/>
          </a:solidFill>
          <a:ln w="127000">
            <a:noFill/>
            <a:miter lim="800000"/>
          </a:ln>
          <a:effectLst/>
        </p:spPr>
        <p:txBody>
          <a:bodyPr lIns="91440" tIns="274320" anchor="t"/>
          <a:lstStyle>
            <a:lvl1pPr indent="0">
              <a:buNone/>
              <a:defRPr sz="3200"/>
            </a:lvl1pPr>
            <a:extLst/>
          </a:lstStyle>
          <a:p>
            <a:pPr marL="0" algn="l" eaLnBrk="1" latinLnBrk="0" hangingPunct="1"/>
            <a:r>
              <a:rPr kumimoji="0" lang="en-US"/>
              <a:t>Click icon to add picture</a:t>
            </a:r>
            <a:endParaRPr kumimoji="0" lang="en-US" dirty="0"/>
          </a:p>
        </p:txBody>
      </p:sp>
      <p:sp>
        <p:nvSpPr>
          <p:cNvPr id="9" name="Flowchart: Process 8"/>
          <p:cNvSpPr/>
          <p:nvPr/>
        </p:nvSpPr>
        <p:spPr>
          <a:xfrm rot="19468671">
            <a:off x="396725" y="954341"/>
            <a:ext cx="685800" cy="204310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shade val="90000"/>
                <a:satMod val="200000"/>
                <a:alpha val="4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Flowchart: Process 9"/>
          <p:cNvSpPr/>
          <p:nvPr/>
        </p:nvSpPr>
        <p:spPr>
          <a:xfrm rot="2103354" flipH="1">
            <a:off x="5003667" y="936786"/>
            <a:ext cx="649224" cy="204310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alpha val="2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200" y="4800600"/>
            <a:ext cx="4419600" cy="762000"/>
          </a:xfrm>
        </p:spPr>
        <p:txBody>
          <a:bodyPr anchor="ctr"/>
          <a:lstStyle>
            <a:lvl1pPr marL="0" indent="0" algn="l">
              <a:lnSpc>
                <a:spcPts val="1600"/>
              </a:lnSpc>
              <a:spcBef>
                <a:spcPts val="0"/>
              </a:spcBef>
              <a:buNone/>
              <a:defRPr sz="1400">
                <a:solidFill>
                  <a:srgbClr val="777777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7C87D5-450C-431C-9A54-EB6FAA95E00A}" type="datetime1">
              <a:rPr lang="en-US" smtClean="0"/>
              <a:t>12/29/2024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Advanced Data Science: 1st Presentation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7CF3C-25E9-4E10-B1ED-2924A4A13E9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58000" y="274639"/>
            <a:ext cx="1828800" cy="5851525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3000" y="274640"/>
            <a:ext cx="5562600" cy="5851525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DA47A2-18BD-455A-AF06-14A7EC642782}" type="datetime1">
              <a:rPr lang="en-US" smtClean="0"/>
              <a:t>12/29/2024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Advanced Data Science: 1st Presentation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7CF3C-25E9-4E10-B1ED-2924A4A13E9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e 6"/>
          <p:cNvSpPr/>
          <p:nvPr/>
        </p:nvSpPr>
        <p:spPr>
          <a:xfrm>
            <a:off x="-815927" y="-815922"/>
            <a:ext cx="1638887" cy="1638887"/>
          </a:xfrm>
          <a:prstGeom prst="pie">
            <a:avLst>
              <a:gd name="adj1" fmla="val 0"/>
              <a:gd name="adj2" fmla="val 5402120"/>
            </a:avLst>
          </a:prstGeom>
          <a:solidFill>
            <a:schemeClr val="bg2">
              <a:tint val="18000"/>
              <a:satMod val="220000"/>
              <a:alpha val="33000"/>
            </a:schemeClr>
          </a:solidFill>
          <a:ln w="3175" cap="rnd" cmpd="sng" algn="ctr">
            <a:solidFill>
              <a:schemeClr val="bg2">
                <a:shade val="70000"/>
                <a:satMod val="200000"/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Oval 7"/>
          <p:cNvSpPr/>
          <p:nvPr/>
        </p:nvSpPr>
        <p:spPr>
          <a:xfrm>
            <a:off x="168816" y="21102"/>
            <a:ext cx="1702191" cy="1702191"/>
          </a:xfrm>
          <a:prstGeom prst="ellipse">
            <a:avLst/>
          </a:prstGeom>
          <a:noFill/>
          <a:ln w="27305" cap="rnd" cmpd="sng" algn="ctr">
            <a:solidFill>
              <a:schemeClr val="bg2">
                <a:tint val="45000"/>
                <a:satMod val="325000"/>
                <a:alpha val="100000"/>
              </a:schemeClr>
            </a:solidFill>
            <a:prstDash val="solid"/>
          </a:ln>
          <a:effectLst>
            <a:outerShdw blurRad="25400" dist="25400" dir="5400000" algn="tl" rotWithShape="0">
              <a:schemeClr val="bg2">
                <a:shade val="50000"/>
                <a:satMod val="150000"/>
                <a:alpha val="8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Donut 10"/>
          <p:cNvSpPr/>
          <p:nvPr/>
        </p:nvSpPr>
        <p:spPr>
          <a:xfrm rot="2315675">
            <a:off x="182881" y="1055077"/>
            <a:ext cx="1125717" cy="1102624"/>
          </a:xfrm>
          <a:prstGeom prst="donut">
            <a:avLst>
              <a:gd name="adj" fmla="val 11833"/>
            </a:avLst>
          </a:prstGeom>
          <a:gradFill rotWithShape="1">
            <a:gsLst>
              <a:gs pos="0">
                <a:schemeClr val="bg2">
                  <a:tint val="10000"/>
                  <a:shade val="99000"/>
                  <a:satMod val="355000"/>
                  <a:alpha val="70000"/>
                </a:schemeClr>
              </a:gs>
              <a:gs pos="70000">
                <a:schemeClr val="bg2">
                  <a:tint val="6000"/>
                  <a:shade val="100000"/>
                  <a:satMod val="400000"/>
                  <a:alpha val="55000"/>
                </a:schemeClr>
              </a:gs>
              <a:gs pos="100000">
                <a:schemeClr val="bg2">
                  <a:tint val="100000"/>
                  <a:shade val="75000"/>
                  <a:satMod val="370000"/>
                  <a:alpha val="60000"/>
                </a:schemeClr>
              </a:gs>
            </a:gsLst>
            <a:path path="circle">
              <a:fillToRect l="-407500" t="-50000" r="507500" b="150000"/>
            </a:path>
          </a:gradFill>
          <a:ln w="7350" cap="rnd" cmpd="sng" algn="ctr">
            <a:solidFill>
              <a:schemeClr val="bg2">
                <a:shade val="60000"/>
                <a:satMod val="220000"/>
                <a:alpha val="100000"/>
              </a:schemeClr>
            </a:solidFill>
            <a:prstDash val="solid"/>
          </a:ln>
          <a:effectLst>
            <a:outerShdw blurRad="12700" dist="15000" dir="4500000" algn="tl" rotWithShape="0">
              <a:schemeClr val="bg2">
                <a:shade val="10000"/>
                <a:satMod val="200000"/>
                <a:alpha val="3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>
          <a:xfrm>
            <a:off x="1012873" y="-54"/>
            <a:ext cx="8131127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5" name="Title Placeholder 4"/>
          <p:cNvSpPr>
            <a:spLocks noGrp="1"/>
          </p:cNvSpPr>
          <p:nvPr>
            <p:ph type="title"/>
          </p:nvPr>
        </p:nvSpPr>
        <p:spPr>
          <a:xfrm>
            <a:off x="1435608" y="274638"/>
            <a:ext cx="7498080" cy="1143000"/>
          </a:xfrm>
          <a:prstGeom prst="rect">
            <a:avLst/>
          </a:prstGeom>
        </p:spPr>
        <p:txBody>
          <a:bodyPr anchor="ctr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1"/>
          </p:nvPr>
        </p:nvSpPr>
        <p:spPr>
          <a:xfrm>
            <a:off x="1435608" y="1447800"/>
            <a:ext cx="7498080" cy="480060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24" name="Date Placeholder 23"/>
          <p:cNvSpPr>
            <a:spLocks noGrp="1"/>
          </p:cNvSpPr>
          <p:nvPr>
            <p:ph type="dt" sz="half" idx="2"/>
          </p:nvPr>
        </p:nvSpPr>
        <p:spPr>
          <a:xfrm>
            <a:off x="3581400" y="6305550"/>
            <a:ext cx="2133600" cy="476250"/>
          </a:xfrm>
          <a:prstGeom prst="rect">
            <a:avLst/>
          </a:prstGeom>
        </p:spPr>
        <p:txBody>
          <a:bodyPr anchor="b"/>
          <a:lstStyle>
            <a:lvl1pPr algn="r"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</a:defRPr>
            </a:lvl1pPr>
            <a:extLst/>
          </a:lstStyle>
          <a:p>
            <a:fld id="{3CB148EF-C564-471F-9927-04279366D647}" type="datetime1">
              <a:rPr lang="en-US" smtClean="0"/>
              <a:t>12/29/2024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3"/>
          </p:nvPr>
        </p:nvSpPr>
        <p:spPr>
          <a:xfrm>
            <a:off x="5715000" y="6305550"/>
            <a:ext cx="2895600" cy="476250"/>
          </a:xfrm>
          <a:prstGeom prst="rect">
            <a:avLst/>
          </a:prstGeom>
        </p:spPr>
        <p:txBody>
          <a:bodyPr anchor="b"/>
          <a:lstStyle>
            <a:lvl1pPr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  <a:extLst/>
          </a:lstStyle>
          <a:p>
            <a:r>
              <a:rPr lang="en-US"/>
              <a:t>Advanced Data Science: 1st Presentation</a:t>
            </a:r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4"/>
          </p:nvPr>
        </p:nvSpPr>
        <p:spPr>
          <a:xfrm>
            <a:off x="8613648" y="6305550"/>
            <a:ext cx="457200" cy="476250"/>
          </a:xfrm>
          <a:prstGeom prst="rect">
            <a:avLst/>
          </a:prstGeom>
        </p:spPr>
        <p:txBody>
          <a:bodyPr anchor="b"/>
          <a:lstStyle>
            <a:lvl1pPr algn="ctr"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  <a:extLst/>
          </a:lstStyle>
          <a:p>
            <a:fld id="{29A7CF3C-25E9-4E10-B1ED-2924A4A13E9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5" name="Rectangle 14"/>
          <p:cNvSpPr/>
          <p:nvPr/>
        </p:nvSpPr>
        <p:spPr bwMode="invGray">
          <a:xfrm>
            <a:off x="1014984" y="-54"/>
            <a:ext cx="73152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dt="0"/>
  <p:txStyles>
    <p:titleStyle>
      <a:lvl1pPr algn="l" rtl="0" eaLnBrk="1" latinLnBrk="0" hangingPunct="1">
        <a:spcBef>
          <a:spcPct val="0"/>
        </a:spcBef>
        <a:buNone/>
        <a:defRPr kumimoji="0" sz="4300" kern="1200">
          <a:solidFill>
            <a:schemeClr val="tx2">
              <a:satMod val="130000"/>
            </a:schemeClr>
          </a:solidFill>
          <a:effectLst>
            <a:outerShdw blurRad="50000" dist="30000" dir="5400000" algn="tl" rotWithShape="0">
              <a:srgbClr val="000000">
                <a:alpha val="30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83464" algn="l" rtl="0" eaLnBrk="1" latinLnBrk="0" hangingPunct="1">
        <a:lnSpc>
          <a:spcPct val="100000"/>
        </a:lnSpc>
        <a:spcBef>
          <a:spcPts val="600"/>
        </a:spcBef>
        <a:buClr>
          <a:schemeClr val="accent1"/>
        </a:buClr>
        <a:buSzPct val="80000"/>
        <a:buFont typeface="Wingdings 2"/>
        <a:buChar char=""/>
        <a:defRPr kumimoji="0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37744" algn="l" rtl="0" eaLnBrk="1" latinLnBrk="0" hangingPunct="1">
        <a:lnSpc>
          <a:spcPct val="100000"/>
        </a:lnSpc>
        <a:spcBef>
          <a:spcPts val="550"/>
        </a:spcBef>
        <a:buClr>
          <a:schemeClr val="accent1"/>
        </a:buClr>
        <a:buFont typeface="Verdana"/>
        <a:buChar char="◦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886968" indent="-228600" algn="l" rtl="0" eaLnBrk="1" latinLnBrk="0" hangingPunct="1">
        <a:lnSpc>
          <a:spcPct val="100000"/>
        </a:lnSpc>
        <a:spcBef>
          <a:spcPct val="20000"/>
        </a:spcBef>
        <a:buClr>
          <a:schemeClr val="accent2"/>
        </a:buClr>
        <a:buFont typeface="Wingdings 2"/>
        <a:buChar char="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173736" algn="l" rtl="0" eaLnBrk="1" latinLnBrk="0" hangingPunct="1">
        <a:lnSpc>
          <a:spcPct val="100000"/>
        </a:lnSpc>
        <a:spcBef>
          <a:spcPct val="20000"/>
        </a:spcBef>
        <a:buClr>
          <a:schemeClr val="accent3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182880" algn="l" rtl="0" eaLnBrk="1" latinLnBrk="0" hangingPunct="1">
        <a:lnSpc>
          <a:spcPct val="100000"/>
        </a:lnSpc>
        <a:spcBef>
          <a:spcPct val="20000"/>
        </a:spcBef>
        <a:buClr>
          <a:schemeClr val="accent4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508760" indent="-182880" algn="l" rtl="0" eaLnBrk="1" latinLnBrk="0" hangingPunct="1">
        <a:lnSpc>
          <a:spcPct val="100000"/>
        </a:lnSpc>
        <a:spcBef>
          <a:spcPct val="20000"/>
        </a:spcBef>
        <a:buClr>
          <a:schemeClr val="accent5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171907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1920240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213055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mongodb.com/try/download/shell" TargetMode="External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hyperlink" Target="https://onlinesys.necta.go.tz/results/2022/acsee/index.htm" TargetMode="Externa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" y="595746"/>
            <a:ext cx="3733800" cy="6186054"/>
          </a:xfrm>
        </p:spPr>
        <p:txBody>
          <a:bodyPr rtlCol="0">
            <a:normAutofit/>
          </a:bodyPr>
          <a:lstStyle/>
          <a:p>
            <a:pPr algn="just">
              <a:lnSpc>
                <a:spcPct val="120000"/>
              </a:lnSpc>
              <a:spcAft>
                <a:spcPts val="1000"/>
              </a:spcAft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MongoDB</a:t>
            </a:r>
          </a:p>
          <a:p>
            <a:pPr marL="313182" indent="-285750" algn="l">
              <a:buFont typeface="Wingdings" panose="05000000000000000000" pitchFamily="2" charset="2"/>
              <a:buChar char="Ø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MongoDB is a document-oriented NoSQL database used for high volume data storage. It is a cross-platform document database that provide high performance, high availability and easy scalability.</a:t>
            </a:r>
          </a:p>
          <a:p>
            <a:pPr marL="313182" indent="-285750" algn="l">
              <a:buFont typeface="Wingdings" panose="05000000000000000000" pitchFamily="2" charset="2"/>
              <a:buChar char="Ø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works on the concepts of collections and documents. Collection means a group of MongoDB documents.</a:t>
            </a:r>
          </a:p>
          <a:p>
            <a:pPr marL="313182" indent="-285750" algn="l">
              <a:buFont typeface="Wingdings" panose="05000000000000000000" pitchFamily="2" charset="2"/>
              <a:buChar char="Ø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Collection do not enforce schema. Document within a collection can have different fields</a:t>
            </a:r>
          </a:p>
          <a:p>
            <a:pPr marL="313182" indent="-285750" algn="l">
              <a:buFont typeface="Wingdings" panose="05000000000000000000" pitchFamily="2" charset="2"/>
              <a:buChar char="Ø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Document is a set of key-value pairs. Documents have a dynamic schema.</a:t>
            </a:r>
          </a:p>
          <a:p>
            <a:pPr algn="just">
              <a:lnSpc>
                <a:spcPct val="120000"/>
              </a:lnSpc>
              <a:spcAft>
                <a:spcPts val="1000"/>
              </a:spcAft>
            </a:pPr>
            <a:endParaRPr lang="en-US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457200" y="76200"/>
            <a:ext cx="7837714" cy="519546"/>
          </a:xfrm>
        </p:spPr>
        <p:txBody>
          <a:bodyPr>
            <a:normAutofit fontScale="90000"/>
          </a:bodyPr>
          <a:lstStyle/>
          <a:p>
            <a:pPr algn="ctr"/>
            <a:r>
              <a:rPr lang="en-US" sz="4000" b="1" dirty="0"/>
              <a:t>Big Data Analytics with MongoDB</a:t>
            </a:r>
            <a:endParaRPr lang="en-US" sz="4000" dirty="0"/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F5125EF1-44D4-ECB1-9893-FE5F44921CD4}"/>
              </a:ext>
            </a:extLst>
          </p:cNvPr>
          <p:cNvSpPr txBox="1">
            <a:spLocks/>
          </p:cNvSpPr>
          <p:nvPr/>
        </p:nvSpPr>
        <p:spPr>
          <a:xfrm>
            <a:off x="3962400" y="595746"/>
            <a:ext cx="5029200" cy="6109854"/>
          </a:xfrm>
          <a:prstGeom prst="rect">
            <a:avLst/>
          </a:prstGeom>
        </p:spPr>
        <p:txBody>
          <a:bodyPr tIns="0" rtlCol="0">
            <a:normAutofit/>
          </a:bodyPr>
          <a:lstStyle>
            <a:lvl1pPr marL="27432" indent="0" algn="l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1"/>
              </a:buClr>
              <a:buSzPct val="80000"/>
              <a:buFont typeface="Wingdings 2"/>
              <a:buNone/>
              <a:defRPr kumimoji="0" sz="2600" kern="1200">
                <a:solidFill>
                  <a:schemeClr val="tx2">
                    <a:shade val="30000"/>
                    <a:satMod val="1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rtl="0" eaLnBrk="1" latinLnBrk="0" hangingPunct="1">
              <a:lnSpc>
                <a:spcPct val="100000"/>
              </a:lnSpc>
              <a:spcBef>
                <a:spcPts val="550"/>
              </a:spcBef>
              <a:buClr>
                <a:schemeClr val="accent1"/>
              </a:buClr>
              <a:buFont typeface="Verdana"/>
              <a:buNone/>
              <a:defRPr kumimoji="0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2"/>
              </a:buClr>
              <a:buFont typeface="Wingdings 2"/>
              <a:buNone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3"/>
              </a:buClr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4"/>
              </a:buClr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5"/>
              </a:buClr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 algn="just">
              <a:lnSpc>
                <a:spcPct val="120000"/>
              </a:lnSpc>
              <a:spcAft>
                <a:spcPts val="1000"/>
              </a:spcAft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Comparison between RDMS &amp; MongoDB</a:t>
            </a:r>
          </a:p>
          <a:p>
            <a:pPr algn="just">
              <a:lnSpc>
                <a:spcPct val="120000"/>
              </a:lnSpc>
              <a:spcAft>
                <a:spcPts val="1000"/>
              </a:spcAft>
            </a:pPr>
            <a:endParaRPr lang="en-US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C4543A0-4157-C918-FED4-9B7811705C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3400" y="914400"/>
            <a:ext cx="4648200" cy="5410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81765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" y="595746"/>
            <a:ext cx="3810000" cy="6186054"/>
          </a:xfrm>
        </p:spPr>
        <p:txBody>
          <a:bodyPr rtlCol="0">
            <a:normAutofit/>
          </a:bodyPr>
          <a:lstStyle/>
          <a:p>
            <a:pPr algn="just">
              <a:lnSpc>
                <a:spcPct val="120000"/>
              </a:lnSpc>
              <a:spcAft>
                <a:spcPts val="1000"/>
              </a:spcAft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Features of MongoDB</a:t>
            </a:r>
          </a:p>
          <a:p>
            <a:pPr marL="313182" indent="-285750" algn="l">
              <a:buFont typeface="Wingdings" panose="05000000000000000000" pitchFamily="2" charset="2"/>
              <a:buChar char="Ø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schemaless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document database</a:t>
            </a:r>
          </a:p>
          <a:p>
            <a:pPr marL="313182" indent="-285750" algn="l">
              <a:buFont typeface="Wingdings" panose="05000000000000000000" pitchFamily="2" charset="2"/>
              <a:buChar char="Ø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has clear object structure</a:t>
            </a:r>
          </a:p>
          <a:p>
            <a:pPr marL="313182" indent="-285750" algn="l">
              <a:buFont typeface="Wingdings" panose="05000000000000000000" pitchFamily="2" charset="2"/>
              <a:buChar char="Ø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has no complex join</a:t>
            </a:r>
            <a:endParaRPr lang="en-US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13182" indent="-285750" algn="l">
              <a:buFont typeface="Wingdings" panose="05000000000000000000" pitchFamily="2" charset="2"/>
              <a:buChar char="Ø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has deep-query ability which supports document-based language</a:t>
            </a:r>
          </a:p>
          <a:p>
            <a:pPr marL="313182" indent="-285750" algn="l">
              <a:buFont typeface="Wingdings" panose="05000000000000000000" pitchFamily="2" charset="2"/>
              <a:buChar char="Ø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more scalable</a:t>
            </a:r>
          </a:p>
          <a:p>
            <a:pPr marL="313182" indent="-285750" algn="l">
              <a:buFont typeface="Wingdings" panose="05000000000000000000" pitchFamily="2" charset="2"/>
              <a:buChar char="Ø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uses internal memory for storing working data sets.</a:t>
            </a:r>
          </a:p>
          <a:p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MongoDB?</a:t>
            </a:r>
          </a:p>
          <a:p>
            <a:pPr marL="313182" indent="-285750">
              <a:buFont typeface="Wingdings" panose="05000000000000000000" pitchFamily="2" charset="2"/>
              <a:buChar char="Ø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document oriented storage, it sores data in the form of JSON – JavaScript Object Notation </a:t>
            </a:r>
          </a:p>
          <a:p>
            <a:pPr marL="313182" indent="-285750">
              <a:buFont typeface="Wingdings" panose="05000000000000000000" pitchFamily="2" charset="2"/>
              <a:buChar char="Ø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provides index to any attributes</a:t>
            </a:r>
          </a:p>
          <a:p>
            <a:pPr marL="313182" indent="-285750">
              <a:buFont typeface="Wingdings" panose="05000000000000000000" pitchFamily="2" charset="2"/>
              <a:buChar char="Ø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provides replication and high availability of data</a:t>
            </a:r>
          </a:p>
          <a:p>
            <a:pPr marL="313182" indent="-285750">
              <a:buFont typeface="Wingdings" panose="05000000000000000000" pitchFamily="2" charset="2"/>
              <a:buChar char="Ø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has auto-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sharding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mechanism</a:t>
            </a:r>
          </a:p>
          <a:p>
            <a:pPr marL="313182" indent="-285750">
              <a:buFont typeface="Wingdings" panose="05000000000000000000" pitchFamily="2" charset="2"/>
              <a:buChar char="Ø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has powerful queries</a:t>
            </a:r>
          </a:p>
          <a:p>
            <a:pPr algn="l"/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457200" y="76200"/>
            <a:ext cx="7837714" cy="519546"/>
          </a:xfrm>
        </p:spPr>
        <p:txBody>
          <a:bodyPr>
            <a:normAutofit fontScale="90000"/>
          </a:bodyPr>
          <a:lstStyle/>
          <a:p>
            <a:pPr algn="ctr"/>
            <a:r>
              <a:rPr lang="en-US" sz="4000" b="1" dirty="0"/>
              <a:t>Big Data Analytics with MongoDB</a:t>
            </a:r>
            <a:endParaRPr lang="en-US" sz="4000" dirty="0"/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F5125EF1-44D4-ECB1-9893-FE5F44921CD4}"/>
              </a:ext>
            </a:extLst>
          </p:cNvPr>
          <p:cNvSpPr txBox="1">
            <a:spLocks/>
          </p:cNvSpPr>
          <p:nvPr/>
        </p:nvSpPr>
        <p:spPr>
          <a:xfrm>
            <a:off x="3962400" y="595746"/>
            <a:ext cx="5029200" cy="6109854"/>
          </a:xfrm>
          <a:prstGeom prst="rect">
            <a:avLst/>
          </a:prstGeom>
        </p:spPr>
        <p:txBody>
          <a:bodyPr tIns="0" rtlCol="0">
            <a:normAutofit/>
          </a:bodyPr>
          <a:lstStyle>
            <a:lvl1pPr marL="27432" indent="0" algn="l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1"/>
              </a:buClr>
              <a:buSzPct val="80000"/>
              <a:buFont typeface="Wingdings 2"/>
              <a:buNone/>
              <a:defRPr kumimoji="0" sz="2600" kern="1200">
                <a:solidFill>
                  <a:schemeClr val="tx2">
                    <a:shade val="30000"/>
                    <a:satMod val="1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rtl="0" eaLnBrk="1" latinLnBrk="0" hangingPunct="1">
              <a:lnSpc>
                <a:spcPct val="100000"/>
              </a:lnSpc>
              <a:spcBef>
                <a:spcPts val="550"/>
              </a:spcBef>
              <a:buClr>
                <a:schemeClr val="accent1"/>
              </a:buClr>
              <a:buFont typeface="Verdana"/>
              <a:buNone/>
              <a:defRPr kumimoji="0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2"/>
              </a:buClr>
              <a:buFont typeface="Wingdings 2"/>
              <a:buNone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3"/>
              </a:buClr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4"/>
              </a:buClr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5"/>
              </a:buClr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 algn="just">
              <a:lnSpc>
                <a:spcPct val="120000"/>
              </a:lnSpc>
              <a:spcAft>
                <a:spcPts val="1000"/>
              </a:spcAft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Sample Document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55434B6-392B-54EC-73F9-8FE98B48D6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7452" y="990600"/>
            <a:ext cx="4784148" cy="403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80757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457200" y="76200"/>
            <a:ext cx="7837714" cy="519546"/>
          </a:xfrm>
        </p:spPr>
        <p:txBody>
          <a:bodyPr>
            <a:normAutofit fontScale="90000"/>
          </a:bodyPr>
          <a:lstStyle/>
          <a:p>
            <a:pPr algn="ctr"/>
            <a:r>
              <a:rPr lang="en-US" sz="4000" b="1" dirty="0"/>
              <a:t>Big Data Analytics with MongoDB</a:t>
            </a:r>
            <a:endParaRPr lang="en-US" sz="40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" y="595746"/>
            <a:ext cx="8991600" cy="6186054"/>
          </a:xfrm>
        </p:spPr>
        <p:txBody>
          <a:bodyPr rtlCol="0">
            <a:normAutofit lnSpcReduction="10000"/>
          </a:bodyPr>
          <a:lstStyle/>
          <a:p>
            <a:pPr algn="just">
              <a:lnSpc>
                <a:spcPct val="120000"/>
              </a:lnSpc>
              <a:spcAft>
                <a:spcPts val="1000"/>
              </a:spcAft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MongoDB Installation</a:t>
            </a:r>
          </a:p>
          <a:p>
            <a:pPr marL="313182" indent="-285750">
              <a:lnSpc>
                <a:spcPct val="110000"/>
              </a:lnSpc>
              <a:buFont typeface="Wingdings" panose="05000000000000000000" pitchFamily="2" charset="2"/>
              <a:buChar char="Ø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install MongoDB on Windows, first download the latest release of MongoDB from http://www.mongodb.org/downloads. </a:t>
            </a:r>
          </a:p>
          <a:p>
            <a:pPr marL="313182" indent="-285750">
              <a:lnSpc>
                <a:spcPct val="110000"/>
              </a:lnSpc>
              <a:buFont typeface="Wingdings" panose="05000000000000000000" pitchFamily="2" charset="2"/>
              <a:buChar char="Ø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Once you have finished installed the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mongodb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to get your Windows version, open command prompt and execute the following command. “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mongod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–version”</a:t>
            </a:r>
          </a:p>
          <a:p>
            <a:endParaRPr lang="en-US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MongoDB Shell</a:t>
            </a:r>
          </a:p>
          <a:p>
            <a:pPr marL="313182" indent="-285750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en-TZ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MongoDB shell is an interactive JavaScript-based interface to interact with a MongoDB database. 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13182" indent="-285750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en-TZ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allows users to execute database commands, perform CRUD (Create, Read, Update, Delete) operations, and manage the database server.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13182" indent="-285750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Thus, to work with MongoDB smoothly you need to install MongoDB Shell.</a:t>
            </a:r>
          </a:p>
          <a:p>
            <a:pPr marL="313182" indent="-285750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You can download the MongoDB Shell via this link: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https://www.mongodb.com/try/download/shell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Note: make sure you choose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msi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package type to get the executable file setup.</a:t>
            </a:r>
          </a:p>
          <a:p>
            <a:pPr marL="313182" indent="-285750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Once you have finished the installation, to get access into MongoDB via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mongodb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sell, go to </a:t>
            </a:r>
            <a:r>
              <a:rPr lang="en-US" sz="1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cmd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commond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prompt, type the command “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mongosh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 then press enter.</a:t>
            </a:r>
            <a:endParaRPr lang="en-TZ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13182" indent="-285750">
              <a:buFont typeface="Wingdings" panose="05000000000000000000" pitchFamily="2" charset="2"/>
              <a:buChar char="Ø"/>
            </a:pPr>
            <a:endParaRPr lang="en-US" sz="1800" dirty="0">
              <a:latin typeface="Verdana,Bold"/>
              <a:cs typeface="Times New Roman" panose="02020603050405020304" pitchFamily="18" charset="0"/>
            </a:endParaRPr>
          </a:p>
          <a:p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0932451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2E7992-81D3-506B-33AC-014C993C60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8DA1626-E96E-0CCC-6286-186ECE82BE0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200" y="76200"/>
            <a:ext cx="7837714" cy="519546"/>
          </a:xfrm>
        </p:spPr>
        <p:txBody>
          <a:bodyPr>
            <a:normAutofit fontScale="90000"/>
          </a:bodyPr>
          <a:lstStyle/>
          <a:p>
            <a:pPr algn="ctr"/>
            <a:r>
              <a:rPr lang="en-US" sz="4000" b="1" dirty="0"/>
              <a:t>Big Data Analytics with MongoDB</a:t>
            </a:r>
            <a:endParaRPr lang="en-US" sz="40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00AA70C-A6DF-DD41-E41B-4EA291CD347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" y="595746"/>
            <a:ext cx="8991600" cy="6186054"/>
          </a:xfrm>
        </p:spPr>
        <p:txBody>
          <a:bodyPr rtlCol="0">
            <a:normAutofit/>
          </a:bodyPr>
          <a:lstStyle/>
          <a:p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MongoDB -  Creating new database</a:t>
            </a:r>
          </a:p>
          <a:p>
            <a:pPr algn="l"/>
            <a:r>
              <a:rPr lang="en-US" sz="1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use Command</a:t>
            </a:r>
          </a:p>
          <a:p>
            <a:pPr algn="l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MongoDB use DATABASE_NAME to create database. The command will create a new database if it doesn't exist, otherwise it will return the existing database.</a:t>
            </a:r>
          </a:p>
          <a:p>
            <a:pPr algn="l"/>
            <a:r>
              <a:rPr lang="en-US" sz="1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Syntax</a:t>
            </a:r>
          </a:p>
          <a:p>
            <a:pPr algn="l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Basic syntax of </a:t>
            </a:r>
            <a:r>
              <a:rPr lang="en-US" sz="1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DATABASE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statement is as follows:</a:t>
            </a:r>
          </a:p>
          <a:p>
            <a:pPr algn="l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database FDS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check your currently selected database, use the command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db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13182" indent="-285750">
              <a:buFont typeface="Wingdings" panose="05000000000000000000" pitchFamily="2" charset="2"/>
              <a:buChar char="à"/>
            </a:pP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db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  <a:sym typeface="Wingdings" panose="05000000000000000000" pitchFamily="2" charset="2"/>
            </a:endParaRPr>
          </a:p>
          <a:p>
            <a:endParaRPr lang="en-US" sz="1800" dirty="0">
              <a:latin typeface="Verdana,Bold"/>
              <a:cs typeface="Times New Roman" panose="02020603050405020304" pitchFamily="18" charset="0"/>
            </a:endParaRPr>
          </a:p>
          <a:p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26705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457200" y="76200"/>
            <a:ext cx="7837714" cy="519546"/>
          </a:xfrm>
        </p:spPr>
        <p:txBody>
          <a:bodyPr>
            <a:normAutofit fontScale="90000"/>
          </a:bodyPr>
          <a:lstStyle/>
          <a:p>
            <a:pPr algn="ctr"/>
            <a:r>
              <a:rPr lang="en-US" sz="4000" b="1" dirty="0"/>
              <a:t>Big Data Analytics with MongoDB</a:t>
            </a:r>
            <a:endParaRPr lang="en-US" sz="40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" y="595746"/>
            <a:ext cx="8991600" cy="6186054"/>
          </a:xfrm>
        </p:spPr>
        <p:txBody>
          <a:bodyPr rtlCol="0">
            <a:normAutofit/>
          </a:bodyPr>
          <a:lstStyle/>
          <a:p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MongoDB -  Commands</a:t>
            </a:r>
          </a:p>
          <a:p>
            <a:pPr algn="l"/>
            <a:r>
              <a:rPr lang="en-US" sz="1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show Command</a:t>
            </a:r>
          </a:p>
          <a:p>
            <a:pPr marL="313182" indent="-285750">
              <a:buFont typeface="Wingdings" panose="05000000000000000000" pitchFamily="2" charset="2"/>
              <a:buChar char="Ø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see a list of database,  use the command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show dbs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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Show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dbs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insert Command</a:t>
            </a:r>
          </a:p>
          <a:p>
            <a:pPr marL="313182" indent="-285750" algn="l">
              <a:buFont typeface="Wingdings" panose="05000000000000000000" pitchFamily="2" charset="2"/>
              <a:buChar char="Ø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NOTE: A blank created database is not listed in the available database list, you need to insert at least one document into it.</a:t>
            </a:r>
          </a:p>
          <a:p>
            <a:pPr marL="313182" indent="-285750">
              <a:buFont typeface="Wingdings" panose="05000000000000000000" pitchFamily="2" charset="2"/>
              <a:buChar char="Ø"/>
            </a:pPr>
            <a:r>
              <a:rPr lang="en-US" sz="1800" b="0" i="0" u="none" strike="noStrike" baseline="0" dirty="0">
                <a:latin typeface="Consolas" panose="020B0609020204030204" pitchFamily="49" charset="0"/>
              </a:rPr>
              <a:t>&gt;</a:t>
            </a:r>
            <a:r>
              <a:rPr lang="en-US" sz="1800" b="0" i="0" u="none" strike="noStrike" baseline="0" dirty="0" err="1">
                <a:latin typeface="Consolas" panose="020B0609020204030204" pitchFamily="49" charset="0"/>
              </a:rPr>
              <a:t>db.</a:t>
            </a:r>
            <a:r>
              <a:rPr lang="en-US" sz="1800" dirty="0" err="1">
                <a:latin typeface="Consolas" panose="020B0609020204030204" pitchFamily="49" charset="0"/>
              </a:rPr>
              <a:t>studentList</a:t>
            </a:r>
            <a:r>
              <a:rPr lang="en-US" sz="1800" b="0" i="0" u="none" strike="noStrike" baseline="0" dirty="0" err="1">
                <a:latin typeface="Consolas" panose="020B0609020204030204" pitchFamily="49" charset="0"/>
              </a:rPr>
              <a:t>.insert</a:t>
            </a:r>
            <a:r>
              <a:rPr lang="en-US" sz="1800" b="0" i="0" u="none" strike="noStrike" baseline="0" dirty="0">
                <a:latin typeface="Consolas" panose="020B0609020204030204" pitchFamily="49" charset="0"/>
              </a:rPr>
              <a:t>({"</a:t>
            </a:r>
            <a:r>
              <a:rPr lang="en-US" sz="1800" b="0" i="0" u="none" strike="noStrike" baseline="0" dirty="0" err="1">
                <a:latin typeface="Consolas" panose="020B0609020204030204" pitchFamily="49" charset="0"/>
              </a:rPr>
              <a:t>name":“Ali</a:t>
            </a:r>
            <a:r>
              <a:rPr lang="en-US" sz="1800" b="0" i="0" u="none" strike="noStrike" baseline="0" dirty="0">
                <a:latin typeface="Consolas" panose="020B0609020204030204" pitchFamily="49" charset="0"/>
              </a:rPr>
              <a:t> Khelef“,”age”:39})</a:t>
            </a:r>
          </a:p>
          <a:p>
            <a:pPr lvl="1"/>
            <a:r>
              <a:rPr lang="en-US" sz="2200" b="0" i="0" u="none" strike="noStrike" baseline="0" dirty="0">
                <a:latin typeface="Consolas" panose="020B0609020204030204" pitchFamily="49" charset="0"/>
              </a:rPr>
              <a:t>             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8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Drop Database Command</a:t>
            </a:r>
          </a:p>
          <a:p>
            <a:pPr algn="l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MongoDB use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db.dropDatabase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 command to drop an existing database.</a:t>
            </a:r>
          </a:p>
          <a:p>
            <a:pPr algn="l"/>
            <a:r>
              <a:rPr lang="en-US" sz="1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Syntax</a:t>
            </a:r>
          </a:p>
          <a:p>
            <a:pPr algn="l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Basic syntax of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dropDatabase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 command is as follows:</a:t>
            </a:r>
          </a:p>
          <a:p>
            <a:pPr algn="l"/>
            <a:r>
              <a:rPr lang="en-US" sz="1800" b="0" i="1" u="none" strike="noStrike" baseline="0" dirty="0">
                <a:latin typeface="Consolas" panose="020B0609020204030204" pitchFamily="49" charset="0"/>
              </a:rPr>
              <a:t>&gt;</a:t>
            </a:r>
            <a:r>
              <a:rPr lang="en-US" sz="1800" b="0" i="1" u="none" strike="noStrike" baseline="0" dirty="0" err="1">
                <a:latin typeface="Consolas" panose="020B0609020204030204" pitchFamily="49" charset="0"/>
              </a:rPr>
              <a:t>db.dropDatabase</a:t>
            </a:r>
            <a:r>
              <a:rPr lang="en-US" sz="1800" b="0" i="1" u="none" strike="noStrike" baseline="0" dirty="0">
                <a:latin typeface="Consolas" panose="020B0609020204030204" pitchFamily="49" charset="0"/>
              </a:rPr>
              <a:t>()</a:t>
            </a:r>
            <a:endParaRPr lang="en-US" sz="18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336183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457200" y="76200"/>
            <a:ext cx="7837714" cy="519546"/>
          </a:xfrm>
        </p:spPr>
        <p:txBody>
          <a:bodyPr>
            <a:normAutofit fontScale="90000"/>
          </a:bodyPr>
          <a:lstStyle/>
          <a:p>
            <a:pPr algn="ctr"/>
            <a:r>
              <a:rPr lang="en-US" sz="4000" b="1" dirty="0"/>
              <a:t>Big Data Analytics with MongoDB</a:t>
            </a:r>
            <a:endParaRPr lang="en-US" sz="40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" y="595746"/>
            <a:ext cx="8991600" cy="6186054"/>
          </a:xfrm>
        </p:spPr>
        <p:txBody>
          <a:bodyPr rtlCol="0">
            <a:normAutofit/>
          </a:bodyPr>
          <a:lstStyle/>
          <a:p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MongoDB -  Commands</a:t>
            </a:r>
          </a:p>
          <a:p>
            <a:pPr algn="l"/>
            <a:r>
              <a:rPr lang="en-US" sz="1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 collection  Command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createCollection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 Method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MongoDB use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db.createCollection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(name, options)  to create collection.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Syntax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Basic syntax of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createCollection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 command is as follows: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db.createCollection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(“Staff”)</a:t>
            </a:r>
          </a:p>
          <a:p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NOTE: In MongoDB, you don't need to create collection. MongoDB creates collection automatically, when you insert some document.</a:t>
            </a:r>
          </a:p>
          <a:p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Drop Collection Command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drop() Method</a:t>
            </a:r>
          </a:p>
          <a:p>
            <a:pPr algn="l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MongoDB use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db.collection_name.drop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 command to drop an existing collection.</a:t>
            </a:r>
          </a:p>
          <a:p>
            <a:pPr algn="l"/>
            <a:r>
              <a:rPr lang="en-US" sz="1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Syntax</a:t>
            </a:r>
          </a:p>
          <a:p>
            <a:pPr algn="l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Basic syntax of drop() command is as follows:</a:t>
            </a:r>
          </a:p>
          <a:p>
            <a:pPr algn="l"/>
            <a:r>
              <a:rPr lang="en-US" sz="1800" b="0" i="1" u="none" strike="noStrike" baseline="0" dirty="0">
                <a:latin typeface="Consolas" panose="020B0609020204030204" pitchFamily="49" charset="0"/>
              </a:rPr>
              <a:t>&gt;</a:t>
            </a:r>
            <a:r>
              <a:rPr lang="en-US" sz="1800" b="0" i="1" u="none" strike="noStrike" baseline="0" dirty="0" err="1">
                <a:latin typeface="Consolas" panose="020B0609020204030204" pitchFamily="49" charset="0"/>
              </a:rPr>
              <a:t>db.Staff.drop</a:t>
            </a:r>
            <a:r>
              <a:rPr lang="en-US" sz="1800" b="0" i="1" u="none" strike="noStrike" baseline="0" dirty="0">
                <a:latin typeface="Consolas" panose="020B0609020204030204" pitchFamily="49" charset="0"/>
              </a:rPr>
              <a:t>()</a:t>
            </a:r>
            <a:endParaRPr lang="en-US" sz="18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471021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457200" y="76200"/>
            <a:ext cx="7837714" cy="519546"/>
          </a:xfrm>
        </p:spPr>
        <p:txBody>
          <a:bodyPr>
            <a:normAutofit fontScale="90000"/>
          </a:bodyPr>
          <a:lstStyle/>
          <a:p>
            <a:pPr algn="ctr"/>
            <a:r>
              <a:rPr lang="en-US" sz="4000" b="1" dirty="0"/>
              <a:t>Big Data Analytics with MongoDB</a:t>
            </a:r>
            <a:endParaRPr lang="en-US" sz="40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" y="595746"/>
            <a:ext cx="8991600" cy="6186054"/>
          </a:xfrm>
        </p:spPr>
        <p:txBody>
          <a:bodyPr rtlCol="0">
            <a:normAutofit/>
          </a:bodyPr>
          <a:lstStyle/>
          <a:p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MongoDB -  CRUD Commands</a:t>
            </a:r>
          </a:p>
          <a:p>
            <a:pPr algn="l"/>
            <a:endParaRPr lang="en-US" sz="18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C74B96E-1B0B-9C6E-12B1-35D591B370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15292"/>
            <a:ext cx="8313287" cy="51469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25041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457200" y="76200"/>
            <a:ext cx="7837714" cy="519546"/>
          </a:xfrm>
        </p:spPr>
        <p:txBody>
          <a:bodyPr>
            <a:normAutofit fontScale="90000"/>
          </a:bodyPr>
          <a:lstStyle/>
          <a:p>
            <a:pPr algn="ctr"/>
            <a:r>
              <a:rPr lang="en-US" sz="4000" b="1" dirty="0"/>
              <a:t>Big Data Analytics with MongoDB</a:t>
            </a:r>
            <a:endParaRPr lang="en-US" sz="40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" y="595746"/>
            <a:ext cx="8991600" cy="6186054"/>
          </a:xfrm>
        </p:spPr>
        <p:txBody>
          <a:bodyPr rtlCol="0">
            <a:normAutofit/>
          </a:bodyPr>
          <a:lstStyle/>
          <a:p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MongoDB -  CRUD Commands</a:t>
            </a:r>
          </a:p>
          <a:p>
            <a:pPr algn="l"/>
            <a:r>
              <a:rPr lang="en-US" sz="1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 All Documents</a:t>
            </a:r>
          </a:p>
          <a:p>
            <a:r>
              <a:rPr lang="en-TZ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select all documents in the collection, pass an empty document as the query filter document to the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TZ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db.collection.find()  method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That is: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db.collection_name.find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({}}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example: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db.students.find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({})</a:t>
            </a:r>
          </a:p>
          <a:p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27F1FE0B-981C-8743-360E-0AF051126E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667000"/>
            <a:ext cx="5715000" cy="39268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99631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457200" y="76200"/>
            <a:ext cx="7837714" cy="519546"/>
          </a:xfrm>
        </p:spPr>
        <p:txBody>
          <a:bodyPr>
            <a:normAutofit fontScale="90000"/>
          </a:bodyPr>
          <a:lstStyle/>
          <a:p>
            <a:pPr algn="ctr"/>
            <a:r>
              <a:rPr lang="en-US" sz="4000" b="1" dirty="0"/>
              <a:t>Big Data Analytics with MongoDB</a:t>
            </a:r>
            <a:endParaRPr lang="en-US" sz="40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" y="595746"/>
            <a:ext cx="8991600" cy="6186054"/>
          </a:xfrm>
        </p:spPr>
        <p:txBody>
          <a:bodyPr rtlCol="0">
            <a:normAutofit/>
          </a:bodyPr>
          <a:lstStyle/>
          <a:p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MongoDB -  QUERY Commands</a:t>
            </a:r>
          </a:p>
          <a:p>
            <a:pPr algn="l"/>
            <a:endParaRPr lang="en-US" sz="18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5C035A9-275E-F9CD-CBD1-20E7A823B0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914399"/>
            <a:ext cx="7848600" cy="56397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51513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457200" y="76200"/>
            <a:ext cx="7837714" cy="519546"/>
          </a:xfrm>
        </p:spPr>
        <p:txBody>
          <a:bodyPr>
            <a:normAutofit fontScale="90000"/>
          </a:bodyPr>
          <a:lstStyle/>
          <a:p>
            <a:pPr algn="ctr"/>
            <a:r>
              <a:rPr lang="en-US" sz="4000" b="1" dirty="0"/>
              <a:t>Big Data Analytics with MongoDB</a:t>
            </a:r>
            <a:endParaRPr lang="en-US" sz="40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" y="595746"/>
            <a:ext cx="8991600" cy="6186054"/>
          </a:xfrm>
        </p:spPr>
        <p:txBody>
          <a:bodyPr rtlCol="0">
            <a:normAutofit/>
          </a:bodyPr>
          <a:lstStyle/>
          <a:p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MongoDB -  CRUD Commands</a:t>
            </a:r>
          </a:p>
          <a:p>
            <a:pPr algn="l"/>
            <a:r>
              <a:rPr lang="en-US" sz="18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Fitering</a:t>
            </a:r>
            <a:r>
              <a:rPr lang="en-US" sz="1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Datat</a:t>
            </a:r>
            <a:r>
              <a:rPr lang="en-US" sz="1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based on logical condition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example to select all students from students collection whose age is greater than 36 years.</a:t>
            </a:r>
          </a:p>
          <a:p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db.students.find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({“age”:{“$gt”:</a:t>
            </a:r>
            <a:r>
              <a:rPr 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36}})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6A144ED-D226-3C9B-6026-02C3134A4B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2209800"/>
            <a:ext cx="8420695" cy="365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94346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457200" y="76200"/>
            <a:ext cx="7837714" cy="519546"/>
          </a:xfrm>
        </p:spPr>
        <p:txBody>
          <a:bodyPr>
            <a:normAutofit fontScale="90000"/>
          </a:bodyPr>
          <a:lstStyle/>
          <a:p>
            <a:pPr algn="ctr"/>
            <a:r>
              <a:rPr lang="en-US" sz="4000" b="1" dirty="0"/>
              <a:t>Big Data Analytics with MongoDB</a:t>
            </a:r>
            <a:endParaRPr lang="en-US" sz="40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" y="595746"/>
            <a:ext cx="8991600" cy="6186054"/>
          </a:xfrm>
        </p:spPr>
        <p:txBody>
          <a:bodyPr rtlCol="0">
            <a:normAutofit/>
          </a:bodyPr>
          <a:lstStyle/>
          <a:p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NECTA-TASK: </a:t>
            </a:r>
            <a:r>
              <a:rPr 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Group Exercise</a:t>
            </a:r>
          </a:p>
          <a:p>
            <a:r>
              <a:rPr 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(5 students @ 30 marks for one week, deadline: 6</a:t>
            </a:r>
            <a:r>
              <a:rPr lang="en-US" sz="1800" b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Jan, 2025 at 16:00hrs)</a:t>
            </a:r>
          </a:p>
          <a:p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Instruction for Submission: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Prepare a short video clip demonstrating the way you achieve your answer. Then, submit a paper group list with your video clip before 6</a:t>
            </a:r>
            <a:r>
              <a:rPr lang="en-US" sz="18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Jan, 2025 at 16:00hrs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800" u="sng" dirty="0">
                <a:solidFill>
                  <a:srgbClr val="0563C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  <a:hlinkClick r:id="rId2"/>
              </a:rPr>
              <a:t>https://onlinesys.necta.go.tz/results/2022/acsee/index.htm</a:t>
            </a:r>
            <a:endParaRPr lang="en-TZ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Problem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 The director of NECTA want to get information about the performance of each subject in the ACESS school all over the country.</a:t>
            </a:r>
          </a:p>
          <a:p>
            <a:pPr marL="370332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Assume you have been asked to extract a school result html page and load it into </a:t>
            </a:r>
            <a:r>
              <a:rPr lang="en-US" sz="18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mongoDB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 How can you do this task? (Hint: use any software tool of your choice that can help you to achieve your answer)</a:t>
            </a:r>
            <a:endParaRPr lang="en-TZ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8319742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olstice">
  <a:themeElements>
    <a:clrScheme name="Solstice">
      <a:dk1>
        <a:sysClr val="windowText" lastClr="000000"/>
      </a:dk1>
      <a:lt1>
        <a:sysClr val="window" lastClr="FFFFFF"/>
      </a:lt1>
      <a:dk2>
        <a:srgbClr val="4F271C"/>
      </a:dk2>
      <a:lt2>
        <a:srgbClr val="E7DEC9"/>
      </a:lt2>
      <a:accent1>
        <a:srgbClr val="3891A7"/>
      </a:accent1>
      <a:accent2>
        <a:srgbClr val="FEB80A"/>
      </a:accent2>
      <a:accent3>
        <a:srgbClr val="C32D2E"/>
      </a:accent3>
      <a:accent4>
        <a:srgbClr val="84AA33"/>
      </a:accent4>
      <a:accent5>
        <a:srgbClr val="964305"/>
      </a:accent5>
      <a:accent6>
        <a:srgbClr val="475A8D"/>
      </a:accent6>
      <a:hlink>
        <a:srgbClr val="8DC765"/>
      </a:hlink>
      <a:folHlink>
        <a:srgbClr val="AA8A14"/>
      </a:folHlink>
    </a:clrScheme>
    <a:fontScheme name="Solstice">
      <a:maj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HY엽서L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Solstice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53000"/>
              </a:schemeClr>
            </a:gs>
            <a:gs pos="50000">
              <a:schemeClr val="phClr">
                <a:tint val="42000"/>
                <a:satMod val="255000"/>
              </a:schemeClr>
            </a:gs>
            <a:gs pos="97000">
              <a:schemeClr val="phClr">
                <a:tint val="53000"/>
                <a:satMod val="260000"/>
              </a:schemeClr>
            </a:gs>
            <a:gs pos="100000">
              <a:schemeClr val="phClr">
                <a:tint val="56000"/>
                <a:satMod val="275000"/>
              </a:schemeClr>
            </a:gs>
          </a:gsLst>
          <a:path path="circle">
            <a:fillToRect l="50000" t="50000" r="50000" b="50000"/>
          </a:path>
        </a:gradFill>
        <a:gradFill rotWithShape="1">
          <a:gsLst>
            <a:gs pos="0">
              <a:schemeClr val="phClr">
                <a:tint val="92000"/>
                <a:satMod val="170000"/>
              </a:schemeClr>
            </a:gs>
            <a:gs pos="15000">
              <a:schemeClr val="phClr">
                <a:tint val="92000"/>
                <a:shade val="99000"/>
                <a:satMod val="170000"/>
              </a:schemeClr>
            </a:gs>
            <a:gs pos="62000">
              <a:schemeClr val="phClr">
                <a:tint val="96000"/>
                <a:shade val="80000"/>
                <a:satMod val="170000"/>
              </a:schemeClr>
            </a:gs>
            <a:gs pos="97000">
              <a:schemeClr val="phClr">
                <a:tint val="98000"/>
                <a:shade val="63000"/>
                <a:satMod val="170000"/>
              </a:schemeClr>
            </a:gs>
            <a:gs pos="100000">
              <a:schemeClr val="phClr">
                <a:shade val="62000"/>
                <a:satMod val="170000"/>
              </a:schemeClr>
            </a:gs>
          </a:gsLst>
          <a:path path="circle">
            <a:fillToRect l="50000" t="50000" r="50000" b="5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8700000"/>
            </a:lightRig>
          </a:scene3d>
          <a:sp3d contourW="12700">
            <a:bevelT w="0" h="0"/>
            <a:contourClr>
              <a:schemeClr val="phClr">
                <a:shade val="80000"/>
              </a:schemeClr>
            </a:contourClr>
          </a:sp3d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5400000"/>
            </a:lightRig>
          </a:scene3d>
          <a:sp3d contourW="12700">
            <a:bevelT w="25400" h="50800" prst="angle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355000"/>
              </a:schemeClr>
            </a:gs>
            <a:gs pos="40000">
              <a:schemeClr val="phClr">
                <a:tint val="85000"/>
                <a:satMod val="320000"/>
              </a:schemeClr>
            </a:gs>
            <a:gs pos="100000">
              <a:schemeClr val="phClr">
                <a:shade val="55000"/>
                <a:satMod val="300000"/>
              </a:schemeClr>
            </a:gs>
          </a:gsLst>
          <a:path path="circle">
            <a:fillToRect l="-24500" t="-20000" r="124500" b="12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"/>
                <a:satMod val="300000"/>
              </a:schemeClr>
              <a:schemeClr val="phClr">
                <a:tint val="90000"/>
                <a:satMod val="225000"/>
              </a:schemeClr>
            </a:duotone>
          </a:blip>
          <a:tile tx="0" ty="0" sx="90000" sy="90000" flip="xy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Solstice">
    <a:dk1>
      <a:sysClr val="windowText" lastClr="000000"/>
    </a:dk1>
    <a:lt1>
      <a:sysClr val="window" lastClr="FFFFFF"/>
    </a:lt1>
    <a:dk2>
      <a:srgbClr val="4F271C"/>
    </a:dk2>
    <a:lt2>
      <a:srgbClr val="E7DEC9"/>
    </a:lt2>
    <a:accent1>
      <a:srgbClr val="3891A7"/>
    </a:accent1>
    <a:accent2>
      <a:srgbClr val="FEB80A"/>
    </a:accent2>
    <a:accent3>
      <a:srgbClr val="C32D2E"/>
    </a:accent3>
    <a:accent4>
      <a:srgbClr val="84AA33"/>
    </a:accent4>
    <a:accent5>
      <a:srgbClr val="964305"/>
    </a:accent5>
    <a:accent6>
      <a:srgbClr val="475A8D"/>
    </a:accent6>
    <a:hlink>
      <a:srgbClr val="8DC765"/>
    </a:hlink>
    <a:folHlink>
      <a:srgbClr val="AA8A14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15222</TotalTime>
  <Words>922</Words>
  <Application>Microsoft Office PowerPoint</Application>
  <PresentationFormat>On-screen Show (4:3)</PresentationFormat>
  <Paragraphs>97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20" baseType="lpstr">
      <vt:lpstr>Calibri</vt:lpstr>
      <vt:lpstr>Consolas</vt:lpstr>
      <vt:lpstr>Gill Sans MT</vt:lpstr>
      <vt:lpstr>Times New Roman</vt:lpstr>
      <vt:lpstr>Verdana</vt:lpstr>
      <vt:lpstr>Verdana,Bold</vt:lpstr>
      <vt:lpstr>Wingdings</vt:lpstr>
      <vt:lpstr>Wingdings 2</vt:lpstr>
      <vt:lpstr>Solstice</vt:lpstr>
      <vt:lpstr>Big Data Analytics with MongoDB</vt:lpstr>
      <vt:lpstr>Big Data Analytics with MongoDB</vt:lpstr>
      <vt:lpstr>Big Data Analytics with MongoDB</vt:lpstr>
      <vt:lpstr>Big Data Analytics with MongoDB</vt:lpstr>
      <vt:lpstr>Big Data Analytics with MongoDB</vt:lpstr>
      <vt:lpstr>Big Data Analytics with MongoDB</vt:lpstr>
      <vt:lpstr>Big Data Analytics with MongoDB</vt:lpstr>
      <vt:lpstr>Big Data Analytics with MongoDB</vt:lpstr>
      <vt:lpstr>Big Data Analytics with MongoDB</vt:lpstr>
      <vt:lpstr>Big Data Analytics with MongoDB</vt:lpstr>
      <vt:lpstr>Big Data Analytics with MongoDB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SOFTWARE ARCHITECTURE ASSIGNMENT1</dc:title>
  <dc:creator>ALI KHELEF</dc:creator>
  <cp:lastModifiedBy>User</cp:lastModifiedBy>
  <cp:revision>1005</cp:revision>
  <dcterms:created xsi:type="dcterms:W3CDTF">2014-11-03T12:19:02Z</dcterms:created>
  <dcterms:modified xsi:type="dcterms:W3CDTF">2024-12-29T12:37:42Z</dcterms:modified>
</cp:coreProperties>
</file>