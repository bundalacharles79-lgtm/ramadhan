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0"/>
  </p:notesMasterIdLst>
  <p:sldIdLst>
    <p:sldId id="597" r:id="rId2"/>
    <p:sldId id="587" r:id="rId3"/>
    <p:sldId id="596" r:id="rId4"/>
    <p:sldId id="589" r:id="rId5"/>
    <p:sldId id="591" r:id="rId6"/>
    <p:sldId id="594" r:id="rId7"/>
    <p:sldId id="592" r:id="rId8"/>
    <p:sldId id="595"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D78B994-A058-40D5-ADC7-E2F660D0C7A2}">
          <p14:sldIdLst>
            <p14:sldId id="597"/>
            <p14:sldId id="587"/>
            <p14:sldId id="596"/>
            <p14:sldId id="589"/>
            <p14:sldId id="591"/>
            <p14:sldId id="594"/>
            <p14:sldId id="592"/>
            <p14:sldId id="59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p:cViewPr varScale="1">
        <p:scale>
          <a:sx n="69" d="100"/>
          <a:sy n="69" d="100"/>
        </p:scale>
        <p:origin x="135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73913A-8E1E-41DD-948F-686AAEFC4C1B}" type="datetimeFigureOut">
              <a:rPr lang="en-US" smtClean="0"/>
              <a:t>1/22/2025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73EC06-D553-4595-823A-3F3D606A0F65}" type="slidenum">
              <a:rPr lang="en-US" smtClean="0"/>
              <a:t>‹#›</a:t>
            </a:fld>
            <a:endParaRPr lang="en-US"/>
          </a:p>
        </p:txBody>
      </p:sp>
    </p:spTree>
    <p:extLst>
      <p:ext uri="{BB962C8B-B14F-4D97-AF65-F5344CB8AC3E}">
        <p14:creationId xmlns:p14="http://schemas.microsoft.com/office/powerpoint/2010/main" val="3050988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8D443A09-2006-424B-B5C4-8FDAF1B52429}" type="datetime1">
              <a:rPr lang="en-US" smtClean="0"/>
              <a:t>1/22/2025</a:t>
            </a:fld>
            <a:endParaRPr lang="en-US"/>
          </a:p>
        </p:txBody>
      </p:sp>
      <p:sp>
        <p:nvSpPr>
          <p:cNvPr id="20" name="Footer Placeholder 19"/>
          <p:cNvSpPr>
            <a:spLocks noGrp="1"/>
          </p:cNvSpPr>
          <p:nvPr>
            <p:ph type="ftr" sz="quarter" idx="11"/>
          </p:nvPr>
        </p:nvSpPr>
        <p:spPr/>
        <p:txBody>
          <a:bodyPr/>
          <a:lstStyle/>
          <a:p>
            <a:r>
              <a:rPr lang="en-US"/>
              <a:t>Advanced Data Science: 1st Presentation</a:t>
            </a:r>
          </a:p>
        </p:txBody>
      </p:sp>
      <p:sp>
        <p:nvSpPr>
          <p:cNvPr id="10" name="Slide Number Placeholder 9"/>
          <p:cNvSpPr>
            <a:spLocks noGrp="1"/>
          </p:cNvSpPr>
          <p:nvPr>
            <p:ph type="sldNum" sz="quarter" idx="12"/>
          </p:nvPr>
        </p:nvSpPr>
        <p:spPr/>
        <p:txBody>
          <a:bodyPr/>
          <a:lstStyle/>
          <a:p>
            <a:fld id="{29A7CF3C-25E9-4E10-B1ED-2924A4A13E9D}"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A4BC8B5-2CA1-4941-8A59-830E2FFEC801}" type="datetime1">
              <a:rPr lang="en-US" smtClean="0"/>
              <a:t>1/22/2025</a:t>
            </a:fld>
            <a:endParaRPr lang="en-US"/>
          </a:p>
        </p:txBody>
      </p:sp>
      <p:sp>
        <p:nvSpPr>
          <p:cNvPr id="5" name="Footer Placeholder 4"/>
          <p:cNvSpPr>
            <a:spLocks noGrp="1"/>
          </p:cNvSpPr>
          <p:nvPr>
            <p:ph type="ftr" sz="quarter" idx="11"/>
          </p:nvPr>
        </p:nvSpPr>
        <p:spPr/>
        <p:txBody>
          <a:bodyPr/>
          <a:lstStyle/>
          <a:p>
            <a:r>
              <a:rPr lang="en-US"/>
              <a:t>Advanced Data Science: 1st Presentation</a:t>
            </a:r>
          </a:p>
        </p:txBody>
      </p:sp>
      <p:sp>
        <p:nvSpPr>
          <p:cNvPr id="6" name="Slide Number Placeholder 5"/>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9CECBAF-DF99-4FBC-994C-E7734C3CE936}" type="datetime1">
              <a:rPr lang="en-US" smtClean="0"/>
              <a:t>1/22/2025</a:t>
            </a:fld>
            <a:endParaRPr lang="en-US"/>
          </a:p>
        </p:txBody>
      </p:sp>
      <p:sp>
        <p:nvSpPr>
          <p:cNvPr id="5" name="Footer Placeholder 4"/>
          <p:cNvSpPr>
            <a:spLocks noGrp="1"/>
          </p:cNvSpPr>
          <p:nvPr>
            <p:ph type="ftr" sz="quarter" idx="11"/>
          </p:nvPr>
        </p:nvSpPr>
        <p:spPr/>
        <p:txBody>
          <a:bodyPr/>
          <a:lstStyle/>
          <a:p>
            <a:r>
              <a:rPr lang="en-US"/>
              <a:t>Advanced Data Science: 1st Presentation</a:t>
            </a:r>
          </a:p>
        </p:txBody>
      </p:sp>
      <p:sp>
        <p:nvSpPr>
          <p:cNvPr id="6" name="Slide Number Placeholder 5"/>
          <p:cNvSpPr>
            <a:spLocks noGrp="1"/>
          </p:cNvSpPr>
          <p:nvPr>
            <p:ph type="sldNum" sz="quarter" idx="12"/>
          </p:nvPr>
        </p:nvSpPr>
        <p:spPr/>
        <p:txBody>
          <a:bodyPr/>
          <a:lstStyle/>
          <a:p>
            <a:fld id="{29A7CF3C-25E9-4E10-B1ED-2924A4A13E9D}"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46D4C13-2E17-462A-8DFD-0920D0C0CA2A}" type="datetime1">
              <a:rPr lang="en-US" smtClean="0"/>
              <a:t>1/22/2025</a:t>
            </a:fld>
            <a:endParaRPr lang="en-US"/>
          </a:p>
        </p:txBody>
      </p:sp>
      <p:sp>
        <p:nvSpPr>
          <p:cNvPr id="6" name="Footer Placeholder 5"/>
          <p:cNvSpPr>
            <a:spLocks noGrp="1"/>
          </p:cNvSpPr>
          <p:nvPr>
            <p:ph type="ftr" sz="quarter" idx="11"/>
          </p:nvPr>
        </p:nvSpPr>
        <p:spPr/>
        <p:txBody>
          <a:bodyPr/>
          <a:lstStyle/>
          <a:p>
            <a:r>
              <a:rPr lang="en-US"/>
              <a:t>Advanced Data Science: 1st Presentation</a:t>
            </a:r>
          </a:p>
        </p:txBody>
      </p:sp>
      <p:sp>
        <p:nvSpPr>
          <p:cNvPr id="7" name="Slide Number Placeholder 6"/>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30E548C-7CAE-4C7E-92FA-14C0E9856AE4}" type="datetime1">
              <a:rPr lang="en-US" smtClean="0"/>
              <a:t>1/22/2025</a:t>
            </a:fld>
            <a:endParaRPr lang="en-US"/>
          </a:p>
        </p:txBody>
      </p:sp>
      <p:sp>
        <p:nvSpPr>
          <p:cNvPr id="8" name="Footer Placeholder 7"/>
          <p:cNvSpPr>
            <a:spLocks noGrp="1"/>
          </p:cNvSpPr>
          <p:nvPr>
            <p:ph type="ftr" sz="quarter" idx="11"/>
          </p:nvPr>
        </p:nvSpPr>
        <p:spPr/>
        <p:txBody>
          <a:bodyPr/>
          <a:lstStyle/>
          <a:p>
            <a:r>
              <a:rPr lang="en-US"/>
              <a:t>Advanced Data Science: 1st Presentation</a:t>
            </a:r>
          </a:p>
        </p:txBody>
      </p:sp>
      <p:sp>
        <p:nvSpPr>
          <p:cNvPr id="9" name="Slide Number Placeholder 8"/>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CD902B65-D183-4E73-86F4-CB4719CCE74B}" type="datetime1">
              <a:rPr lang="en-US" smtClean="0"/>
              <a:t>1/22/2025</a:t>
            </a:fld>
            <a:endParaRPr lang="en-US"/>
          </a:p>
        </p:txBody>
      </p:sp>
      <p:sp>
        <p:nvSpPr>
          <p:cNvPr id="4" name="Footer Placeholder 3"/>
          <p:cNvSpPr>
            <a:spLocks noGrp="1"/>
          </p:cNvSpPr>
          <p:nvPr>
            <p:ph type="ftr" sz="quarter" idx="11"/>
          </p:nvPr>
        </p:nvSpPr>
        <p:spPr/>
        <p:txBody>
          <a:bodyPr/>
          <a:lstStyle/>
          <a:p>
            <a:r>
              <a:rPr lang="en-US"/>
              <a:t>Advanced Data Science: 1st Presentation</a:t>
            </a:r>
          </a:p>
        </p:txBody>
      </p:sp>
      <p:sp>
        <p:nvSpPr>
          <p:cNvPr id="5" name="Slide Number Placeholder 4"/>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9B38BF56-361E-4270-AF78-D214F4C8F8D2}" type="datetime1">
              <a:rPr lang="en-US" smtClean="0"/>
              <a:t>1/22/2025</a:t>
            </a:fld>
            <a:endParaRPr lang="en-US"/>
          </a:p>
        </p:txBody>
      </p:sp>
      <p:sp>
        <p:nvSpPr>
          <p:cNvPr id="3" name="Footer Placeholder 2"/>
          <p:cNvSpPr>
            <a:spLocks noGrp="1"/>
          </p:cNvSpPr>
          <p:nvPr>
            <p:ph type="ftr" sz="quarter" idx="11"/>
          </p:nvPr>
        </p:nvSpPr>
        <p:spPr/>
        <p:txBody>
          <a:bodyPr/>
          <a:lstStyle/>
          <a:p>
            <a:r>
              <a:rPr lang="en-US"/>
              <a:t>Advanced Data Science: 1st Presentation</a:t>
            </a:r>
          </a:p>
        </p:txBody>
      </p:sp>
      <p:sp>
        <p:nvSpPr>
          <p:cNvPr id="4" name="Slide Number Placeholder 3"/>
          <p:cNvSpPr>
            <a:spLocks noGrp="1"/>
          </p:cNvSpPr>
          <p:nvPr>
            <p:ph type="sldNum" sz="quarter" idx="12"/>
          </p:nvPr>
        </p:nvSpPr>
        <p:spPr/>
        <p:txBody>
          <a:bodyPr/>
          <a:lstStyle/>
          <a:p>
            <a:fld id="{29A7CF3C-25E9-4E10-B1ED-2924A4A13E9D}"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69F1885-E745-459C-8E23-33B6E53C3914}" type="datetime1">
              <a:rPr lang="en-US" smtClean="0"/>
              <a:t>1/22/2025</a:t>
            </a:fld>
            <a:endParaRPr lang="en-US"/>
          </a:p>
        </p:txBody>
      </p:sp>
      <p:sp>
        <p:nvSpPr>
          <p:cNvPr id="6" name="Footer Placeholder 5"/>
          <p:cNvSpPr>
            <a:spLocks noGrp="1"/>
          </p:cNvSpPr>
          <p:nvPr>
            <p:ph type="ftr" sz="quarter" idx="11"/>
          </p:nvPr>
        </p:nvSpPr>
        <p:spPr/>
        <p:txBody>
          <a:bodyPr/>
          <a:lstStyle/>
          <a:p>
            <a:r>
              <a:rPr lang="en-US"/>
              <a:t>Advanced Data Science: 1st Presentation</a:t>
            </a:r>
          </a:p>
        </p:txBody>
      </p:sp>
      <p:sp>
        <p:nvSpPr>
          <p:cNvPr id="7" name="Slide Number Placeholder 6"/>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5B5477A4-1834-4EED-B01C-4A4C2D777A35}" type="datetime1">
              <a:rPr lang="en-US" smtClean="0"/>
              <a:t>1/22/2025</a:t>
            </a:fld>
            <a:endParaRPr lang="en-US"/>
          </a:p>
        </p:txBody>
      </p:sp>
      <p:sp>
        <p:nvSpPr>
          <p:cNvPr id="6" name="Footer Placeholder 5"/>
          <p:cNvSpPr>
            <a:spLocks noGrp="1"/>
          </p:cNvSpPr>
          <p:nvPr>
            <p:ph type="ftr" sz="quarter" idx="11"/>
          </p:nvPr>
        </p:nvSpPr>
        <p:spPr/>
        <p:txBody>
          <a:bodyPr/>
          <a:lstStyle/>
          <a:p>
            <a:r>
              <a:rPr lang="en-US"/>
              <a:t>Advanced Data Science: 1st Presentation</a:t>
            </a:r>
          </a:p>
        </p:txBody>
      </p:sp>
      <p:sp>
        <p:nvSpPr>
          <p:cNvPr id="7" name="Slide Number Placeholder 6"/>
          <p:cNvSpPr>
            <a:spLocks noGrp="1"/>
          </p:cNvSpPr>
          <p:nvPr>
            <p:ph type="sldNum" sz="quarter" idx="12"/>
          </p:nvPr>
        </p:nvSpPr>
        <p:spPr/>
        <p:txBody>
          <a:bodyPr/>
          <a:lstStyle/>
          <a:p>
            <a:fld id="{29A7CF3C-25E9-4E10-B1ED-2924A4A13E9D}"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07C87D5-450C-431C-9A54-EB6FAA95E00A}" type="datetime1">
              <a:rPr lang="en-US" smtClean="0"/>
              <a:t>1/22/2025</a:t>
            </a:fld>
            <a:endParaRPr lang="en-US"/>
          </a:p>
        </p:txBody>
      </p:sp>
      <p:sp>
        <p:nvSpPr>
          <p:cNvPr id="5" name="Footer Placeholder 4"/>
          <p:cNvSpPr>
            <a:spLocks noGrp="1"/>
          </p:cNvSpPr>
          <p:nvPr>
            <p:ph type="ftr" sz="quarter" idx="11"/>
          </p:nvPr>
        </p:nvSpPr>
        <p:spPr/>
        <p:txBody>
          <a:bodyPr/>
          <a:lstStyle/>
          <a:p>
            <a:r>
              <a:rPr lang="en-US"/>
              <a:t>Advanced Data Science: 1st Presentation</a:t>
            </a:r>
          </a:p>
        </p:txBody>
      </p:sp>
      <p:sp>
        <p:nvSpPr>
          <p:cNvPr id="6" name="Slide Number Placeholder 5"/>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4DA47A2-18BD-455A-AF06-14A7EC642782}" type="datetime1">
              <a:rPr lang="en-US" smtClean="0"/>
              <a:t>1/22/2025</a:t>
            </a:fld>
            <a:endParaRPr lang="en-US"/>
          </a:p>
        </p:txBody>
      </p:sp>
      <p:sp>
        <p:nvSpPr>
          <p:cNvPr id="5" name="Footer Placeholder 4"/>
          <p:cNvSpPr>
            <a:spLocks noGrp="1"/>
          </p:cNvSpPr>
          <p:nvPr>
            <p:ph type="ftr" sz="quarter" idx="11"/>
          </p:nvPr>
        </p:nvSpPr>
        <p:spPr/>
        <p:txBody>
          <a:bodyPr/>
          <a:lstStyle/>
          <a:p>
            <a:r>
              <a:rPr lang="en-US"/>
              <a:t>Advanced Data Science: 1st Presentation</a:t>
            </a:r>
          </a:p>
        </p:txBody>
      </p:sp>
      <p:sp>
        <p:nvSpPr>
          <p:cNvPr id="6" name="Slide Number Placeholder 5"/>
          <p:cNvSpPr>
            <a:spLocks noGrp="1"/>
          </p:cNvSpPr>
          <p:nvPr>
            <p:ph type="sldNum" sz="quarter" idx="12"/>
          </p:nvPr>
        </p:nvSpPr>
        <p:spPr/>
        <p:txBody>
          <a:bodyPr/>
          <a:lstStyle/>
          <a:p>
            <a:fld id="{29A7CF3C-25E9-4E10-B1ED-2924A4A13E9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3CB148EF-C564-471F-9927-04279366D647}" type="datetime1">
              <a:rPr lang="en-US" smtClean="0"/>
              <a:t>1/22/2025</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r>
              <a:rPr lang="en-US"/>
              <a:t>Advanced Data Science: 1st Presentation</a:t>
            </a:r>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29A7CF3C-25E9-4E10-B1ED-2924A4A13E9D}"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57200" y="76200"/>
            <a:ext cx="7837714" cy="519546"/>
          </a:xfrm>
        </p:spPr>
        <p:txBody>
          <a:bodyPr>
            <a:normAutofit fontScale="90000"/>
          </a:bodyPr>
          <a:lstStyle/>
          <a:p>
            <a:pPr algn="ctr"/>
            <a:r>
              <a:rPr lang="en-US" sz="4000" b="1" dirty="0"/>
              <a:t>Big Data Analytics Techniques</a:t>
            </a:r>
            <a:endParaRPr lang="en-US" sz="4000" dirty="0"/>
          </a:p>
        </p:txBody>
      </p:sp>
      <p:sp>
        <p:nvSpPr>
          <p:cNvPr id="3" name="Subtitle 2"/>
          <p:cNvSpPr>
            <a:spLocks noGrp="1"/>
          </p:cNvSpPr>
          <p:nvPr>
            <p:ph type="subTitle" idx="1"/>
          </p:nvPr>
        </p:nvSpPr>
        <p:spPr>
          <a:xfrm>
            <a:off x="152400" y="595746"/>
            <a:ext cx="8991600" cy="6186054"/>
          </a:xfrm>
        </p:spPr>
        <p:txBody>
          <a:bodyPr rtlCol="0">
            <a:normAutofit/>
          </a:bodyPr>
          <a:lstStyle/>
          <a:p>
            <a:pPr algn="just">
              <a:lnSpc>
                <a:spcPct val="120000"/>
              </a:lnSpc>
              <a:spcAft>
                <a:spcPts val="1000"/>
              </a:spcAft>
            </a:pPr>
            <a:endParaRPr lang="en-US" sz="1800" b="1" dirty="0"/>
          </a:p>
          <a:p>
            <a:pPr algn="just">
              <a:lnSpc>
                <a:spcPct val="120000"/>
              </a:lnSpc>
              <a:spcAft>
                <a:spcPts val="1000"/>
              </a:spcAft>
            </a:pPr>
            <a:r>
              <a:rPr lang="en-US" sz="1800" b="1" dirty="0"/>
              <a:t>What is Big Data Analytics? </a:t>
            </a:r>
          </a:p>
          <a:p>
            <a:pPr marL="313182" indent="-285750">
              <a:lnSpc>
                <a:spcPct val="107000"/>
              </a:lnSpc>
              <a:spcAft>
                <a:spcPts val="8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Big data analytics refers to the complex process of extracting, transforming, exploring, and analyzing  large data to uncover useful information that can be used to solve a certain business problem. It is the process used to extract meaningful insights, such as hidden patterns, unknown correlations, market trends, and customer preferences</a:t>
            </a:r>
          </a:p>
          <a:p>
            <a:pPr marL="313182" indent="-285750">
              <a:lnSpc>
                <a:spcPct val="107000"/>
              </a:lnSpc>
              <a:spcAft>
                <a:spcPts val="8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is  widely used across various industries such as health care, education, insurance, artificial intelligence, retail, and manufacturing to understand the useful information that can be used to improve business processes, systems functionalities, and market profitability. </a:t>
            </a:r>
          </a:p>
          <a:p>
            <a:pPr>
              <a:lnSpc>
                <a:spcPct val="107000"/>
              </a:lnSpc>
              <a:spcAft>
                <a:spcPts val="800"/>
              </a:spcAft>
            </a:pPr>
            <a:r>
              <a:rPr lang="en-US" sz="1800" dirty="0">
                <a:latin typeface="Times New Roman" panose="02020603050405020304" pitchFamily="18" charset="0"/>
                <a:cs typeface="Times New Roman" panose="02020603050405020304" pitchFamily="18" charset="0"/>
              </a:rPr>
              <a:t>Big data analytics can be used to:</a:t>
            </a:r>
          </a:p>
          <a:p>
            <a:pPr marL="313182" indent="-285750">
              <a:lnSpc>
                <a:spcPct val="107000"/>
              </a:lnSpc>
              <a:spcAft>
                <a:spcPts val="8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Understand customer behavior in order to optimize the customer experience</a:t>
            </a:r>
          </a:p>
          <a:p>
            <a:pPr marL="313182" indent="-285750">
              <a:lnSpc>
                <a:spcPct val="107000"/>
              </a:lnSpc>
              <a:spcAft>
                <a:spcPts val="8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Predict future trends in order to make better business decisions</a:t>
            </a:r>
          </a:p>
          <a:p>
            <a:pPr marL="313182" indent="-285750">
              <a:lnSpc>
                <a:spcPct val="107000"/>
              </a:lnSpc>
              <a:spcAft>
                <a:spcPts val="8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Improve marketing campaigns by understanding what works and what doesn't</a:t>
            </a:r>
          </a:p>
          <a:p>
            <a:pPr marL="313182" indent="-285750">
              <a:lnSpc>
                <a:spcPct val="107000"/>
              </a:lnSpc>
              <a:spcAft>
                <a:spcPts val="8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Increase operational efficiency by understanding where bottlenecks are and how to fix them</a:t>
            </a:r>
            <a:endParaRPr lang="en-US" sz="1800" dirty="0">
              <a:latin typeface="Verdana,Bold"/>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8035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57200" y="76200"/>
            <a:ext cx="7837714" cy="519546"/>
          </a:xfrm>
        </p:spPr>
        <p:txBody>
          <a:bodyPr>
            <a:normAutofit fontScale="90000"/>
          </a:bodyPr>
          <a:lstStyle/>
          <a:p>
            <a:pPr algn="ctr"/>
            <a:r>
              <a:rPr lang="en-US" sz="4000" b="1" dirty="0"/>
              <a:t>Big Data Analytics Techniques</a:t>
            </a:r>
            <a:endParaRPr lang="en-US" sz="4000" dirty="0"/>
          </a:p>
        </p:txBody>
      </p:sp>
      <p:sp>
        <p:nvSpPr>
          <p:cNvPr id="3" name="Subtitle 2"/>
          <p:cNvSpPr>
            <a:spLocks noGrp="1"/>
          </p:cNvSpPr>
          <p:nvPr>
            <p:ph type="subTitle" idx="1"/>
          </p:nvPr>
        </p:nvSpPr>
        <p:spPr>
          <a:xfrm>
            <a:off x="152400" y="595746"/>
            <a:ext cx="8763000" cy="6033654"/>
          </a:xfrm>
        </p:spPr>
        <p:txBody>
          <a:bodyPr rtlCol="0">
            <a:normAutofit/>
          </a:bodyPr>
          <a:lstStyle/>
          <a:p>
            <a:pPr algn="just">
              <a:lnSpc>
                <a:spcPct val="120000"/>
              </a:lnSpc>
              <a:spcAft>
                <a:spcPts val="1000"/>
              </a:spcAft>
            </a:pPr>
            <a:r>
              <a:rPr lang="en-US" sz="1800" b="1" dirty="0"/>
              <a:t>Types of  Big data analytics </a:t>
            </a:r>
          </a:p>
          <a:p>
            <a:pPr>
              <a:lnSpc>
                <a:spcPct val="107000"/>
              </a:lnSpc>
              <a:spcAft>
                <a:spcPts val="800"/>
              </a:spcAft>
            </a:pPr>
            <a:r>
              <a:rPr lang="en-US" sz="1800" dirty="0">
                <a:latin typeface="Times New Roman" panose="02020603050405020304" pitchFamily="18" charset="0"/>
                <a:cs typeface="Times New Roman" panose="02020603050405020304" pitchFamily="18" charset="0"/>
              </a:rPr>
              <a:t>Big data analytics can be classified into four types:</a:t>
            </a:r>
          </a:p>
          <a:p>
            <a:pPr marL="370332" indent="-342900">
              <a:lnSpc>
                <a:spcPct val="107000"/>
              </a:lnSpc>
              <a:spcAft>
                <a:spcPts val="800"/>
              </a:spcAft>
              <a:buFont typeface="+mj-lt"/>
              <a:buAutoNum type="arabicPeriod"/>
            </a:pPr>
            <a:r>
              <a:rPr lang="en-US" sz="1800" dirty="0">
                <a:latin typeface="Times New Roman" panose="02020603050405020304" pitchFamily="18" charset="0"/>
                <a:cs typeface="Times New Roman" panose="02020603050405020304" pitchFamily="18" charset="0"/>
              </a:rPr>
              <a:t>Descriptive analytics</a:t>
            </a:r>
          </a:p>
          <a:p>
            <a:pPr marL="370332" indent="-342900">
              <a:lnSpc>
                <a:spcPct val="107000"/>
              </a:lnSpc>
              <a:spcAft>
                <a:spcPts val="800"/>
              </a:spcAft>
              <a:buFont typeface="+mj-lt"/>
              <a:buAutoNum type="arabicPeriod"/>
            </a:pPr>
            <a:r>
              <a:rPr lang="en-US" sz="1800" dirty="0">
                <a:latin typeface="Times New Roman" panose="02020603050405020304" pitchFamily="18" charset="0"/>
                <a:cs typeface="Times New Roman" panose="02020603050405020304" pitchFamily="18" charset="0"/>
              </a:rPr>
              <a:t>Diagnostics analytics </a:t>
            </a:r>
          </a:p>
          <a:p>
            <a:pPr marL="370332" indent="-342900">
              <a:lnSpc>
                <a:spcPct val="107000"/>
              </a:lnSpc>
              <a:spcAft>
                <a:spcPts val="800"/>
              </a:spcAft>
              <a:buFont typeface="+mj-lt"/>
              <a:buAutoNum type="arabicPeriod"/>
            </a:pPr>
            <a:r>
              <a:rPr lang="en-US" sz="1800" dirty="0">
                <a:latin typeface="Times New Roman" panose="02020603050405020304" pitchFamily="18" charset="0"/>
                <a:cs typeface="Times New Roman" panose="02020603050405020304" pitchFamily="18" charset="0"/>
              </a:rPr>
              <a:t>Predictive analytics</a:t>
            </a:r>
          </a:p>
          <a:p>
            <a:pPr marL="370332" indent="-342900">
              <a:lnSpc>
                <a:spcPct val="107000"/>
              </a:lnSpc>
              <a:spcAft>
                <a:spcPts val="800"/>
              </a:spcAft>
              <a:buFont typeface="+mj-lt"/>
              <a:buAutoNum type="arabicPeriod"/>
            </a:pPr>
            <a:r>
              <a:rPr lang="en-US" sz="1800" dirty="0">
                <a:latin typeface="Times New Roman" panose="02020603050405020304" pitchFamily="18" charset="0"/>
                <a:cs typeface="Times New Roman" panose="02020603050405020304" pitchFamily="18" charset="0"/>
              </a:rPr>
              <a:t>Prescriptive analytics</a:t>
            </a:r>
          </a:p>
        </p:txBody>
      </p:sp>
      <p:pic>
        <p:nvPicPr>
          <p:cNvPr id="7" name="Picture 6">
            <a:extLst>
              <a:ext uri="{FF2B5EF4-FFF2-40B4-BE49-F238E27FC236}">
                <a16:creationId xmlns:a16="http://schemas.microsoft.com/office/drawing/2014/main" id="{ED8C30A9-1A27-8481-4D5F-5597B1889BB2}"/>
              </a:ext>
            </a:extLst>
          </p:cNvPr>
          <p:cNvPicPr>
            <a:picLocks noChangeAspect="1"/>
          </p:cNvPicPr>
          <p:nvPr/>
        </p:nvPicPr>
        <p:blipFill>
          <a:blip r:embed="rId2"/>
          <a:stretch>
            <a:fillRect/>
          </a:stretch>
        </p:blipFill>
        <p:spPr>
          <a:xfrm>
            <a:off x="304800" y="3612573"/>
            <a:ext cx="8338120" cy="1873827"/>
          </a:xfrm>
          <a:prstGeom prst="rect">
            <a:avLst/>
          </a:prstGeom>
        </p:spPr>
      </p:pic>
    </p:spTree>
    <p:extLst>
      <p:ext uri="{BB962C8B-B14F-4D97-AF65-F5344CB8AC3E}">
        <p14:creationId xmlns:p14="http://schemas.microsoft.com/office/powerpoint/2010/main" val="2645919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57200" y="76200"/>
            <a:ext cx="7837714" cy="519546"/>
          </a:xfrm>
        </p:spPr>
        <p:txBody>
          <a:bodyPr>
            <a:normAutofit fontScale="90000"/>
          </a:bodyPr>
          <a:lstStyle/>
          <a:p>
            <a:pPr algn="ctr"/>
            <a:r>
              <a:rPr lang="en-US" sz="4000" b="1" dirty="0"/>
              <a:t>Big Data Analytics Techniques</a:t>
            </a:r>
            <a:endParaRPr lang="en-US" sz="4000" dirty="0"/>
          </a:p>
        </p:txBody>
      </p:sp>
      <p:sp>
        <p:nvSpPr>
          <p:cNvPr id="3" name="Subtitle 2"/>
          <p:cNvSpPr>
            <a:spLocks noGrp="1"/>
          </p:cNvSpPr>
          <p:nvPr>
            <p:ph type="subTitle" idx="1"/>
          </p:nvPr>
        </p:nvSpPr>
        <p:spPr>
          <a:xfrm>
            <a:off x="152400" y="595746"/>
            <a:ext cx="8763000" cy="6033654"/>
          </a:xfrm>
        </p:spPr>
        <p:txBody>
          <a:bodyPr rtlCol="0">
            <a:normAutofit/>
          </a:bodyPr>
          <a:lstStyle/>
          <a:p>
            <a:pPr algn="just">
              <a:lnSpc>
                <a:spcPct val="120000"/>
              </a:lnSpc>
              <a:spcAft>
                <a:spcPts val="1000"/>
              </a:spcAft>
            </a:pPr>
            <a:r>
              <a:rPr lang="en-US" sz="1800" b="1" dirty="0"/>
              <a:t>Types of  Big data analytics </a:t>
            </a:r>
          </a:p>
          <a:p>
            <a:pPr>
              <a:lnSpc>
                <a:spcPct val="107000"/>
              </a:lnSpc>
              <a:spcAft>
                <a:spcPts val="800"/>
              </a:spcAft>
            </a:pPr>
            <a:r>
              <a:rPr lang="en-US" sz="1800" dirty="0">
                <a:latin typeface="Times New Roman" panose="02020603050405020304" pitchFamily="18" charset="0"/>
                <a:cs typeface="Times New Roman" panose="02020603050405020304" pitchFamily="18" charset="0"/>
              </a:rPr>
              <a:t>Big data analytics can be classified into four types:</a:t>
            </a:r>
          </a:p>
          <a:p>
            <a:pPr marL="370332" indent="-342900">
              <a:lnSpc>
                <a:spcPct val="107000"/>
              </a:lnSpc>
              <a:spcAft>
                <a:spcPts val="800"/>
              </a:spcAft>
              <a:buFont typeface="+mj-lt"/>
              <a:buAutoNum type="arabicPeriod"/>
            </a:pPr>
            <a:r>
              <a:rPr lang="en-US" sz="1800" b="1" dirty="0">
                <a:latin typeface="Times New Roman" panose="02020603050405020304" pitchFamily="18" charset="0"/>
                <a:cs typeface="Times New Roman" panose="02020603050405020304" pitchFamily="18" charset="0"/>
              </a:rPr>
              <a:t>Descriptive analytics: </a:t>
            </a:r>
            <a:r>
              <a:rPr lang="en-US" sz="1800" dirty="0">
                <a:latin typeface="Times New Roman" panose="02020603050405020304" pitchFamily="18" charset="0"/>
                <a:cs typeface="Times New Roman" panose="02020603050405020304" pitchFamily="18" charset="0"/>
              </a:rPr>
              <a:t>This refers to data analytics that can be used to summarize data using numeric and graphic data summaries that can be easily read and interpreted. This data analytics helps to create reports and visualize information that can detail company profits and sales</a:t>
            </a:r>
          </a:p>
          <a:p>
            <a:pPr marL="370332" indent="-342900">
              <a:lnSpc>
                <a:spcPct val="107000"/>
              </a:lnSpc>
              <a:spcAft>
                <a:spcPts val="800"/>
              </a:spcAft>
              <a:buFont typeface="+mj-lt"/>
              <a:buAutoNum type="arabicPeriod"/>
            </a:pPr>
            <a:r>
              <a:rPr lang="en-US" sz="1800" b="1" dirty="0">
                <a:latin typeface="Times New Roman" panose="02020603050405020304" pitchFamily="18" charset="0"/>
                <a:cs typeface="Times New Roman" panose="02020603050405020304" pitchFamily="18" charset="0"/>
              </a:rPr>
              <a:t>Diagnostics analytics</a:t>
            </a:r>
            <a:r>
              <a:rPr lang="en-US" sz="1800" dirty="0">
                <a:latin typeface="Times New Roman" panose="02020603050405020304" pitchFamily="18" charset="0"/>
                <a:cs typeface="Times New Roman" panose="02020603050405020304" pitchFamily="18" charset="0"/>
              </a:rPr>
              <a:t>: This refers to data analytics that can be used to understand why a certain problem occurred. It the method which explains why and how something happened by identifying patterns and relationships in available data.</a:t>
            </a:r>
          </a:p>
          <a:p>
            <a:pPr marL="370332" indent="-342900">
              <a:lnSpc>
                <a:spcPct val="107000"/>
              </a:lnSpc>
              <a:spcAft>
                <a:spcPts val="800"/>
              </a:spcAft>
              <a:buFont typeface="+mj-lt"/>
              <a:buAutoNum type="arabicPeriod"/>
            </a:pPr>
            <a:r>
              <a:rPr lang="en-US" sz="1800" b="1" dirty="0">
                <a:latin typeface="Times New Roman" panose="02020603050405020304" pitchFamily="18" charset="0"/>
                <a:cs typeface="Times New Roman" panose="02020603050405020304" pitchFamily="18" charset="0"/>
              </a:rPr>
              <a:t>Predictive analytics</a:t>
            </a:r>
            <a:r>
              <a:rPr lang="en-US" sz="1800" dirty="0">
                <a:latin typeface="Times New Roman" panose="02020603050405020304" pitchFamily="18" charset="0"/>
                <a:cs typeface="Times New Roman" panose="02020603050405020304" pitchFamily="18" charset="0"/>
              </a:rPr>
              <a:t>:  This refers to data analytics that looks at past and present data to make predictions. It the method which uses historical data to uncover patterns and make predictions on what’s likely to happen in the future.</a:t>
            </a:r>
          </a:p>
          <a:p>
            <a:pPr marL="370332" indent="-342900">
              <a:lnSpc>
                <a:spcPct val="107000"/>
              </a:lnSpc>
              <a:spcAft>
                <a:spcPts val="800"/>
              </a:spcAft>
              <a:buFont typeface="+mj-lt"/>
              <a:buAutoNum type="arabicPeriod"/>
            </a:pPr>
            <a:r>
              <a:rPr lang="en-US" sz="1800" b="1" dirty="0">
                <a:latin typeface="Times New Roman" panose="02020603050405020304" pitchFamily="18" charset="0"/>
                <a:cs typeface="Times New Roman" panose="02020603050405020304" pitchFamily="18" charset="0"/>
              </a:rPr>
              <a:t>Prescriptive analytics</a:t>
            </a:r>
            <a:r>
              <a:rPr lang="en-US" sz="1800" dirty="0">
                <a:latin typeface="Times New Roman" panose="02020603050405020304" pitchFamily="18" charset="0"/>
                <a:cs typeface="Times New Roman" panose="02020603050405020304" pitchFamily="18" charset="0"/>
              </a:rPr>
              <a:t>: This refers to data analytics that provides solution to a problem by providing specific recommendations on what should be done better.</a:t>
            </a:r>
          </a:p>
          <a:p>
            <a:endParaRPr lang="en-US" sz="1800" dirty="0">
              <a:latin typeface="Verdana,Bold"/>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9582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57200" y="76200"/>
            <a:ext cx="7837714" cy="519546"/>
          </a:xfrm>
        </p:spPr>
        <p:txBody>
          <a:bodyPr>
            <a:normAutofit fontScale="90000"/>
          </a:bodyPr>
          <a:lstStyle/>
          <a:p>
            <a:pPr algn="ctr"/>
            <a:r>
              <a:rPr lang="en-US" sz="4000" b="1" dirty="0"/>
              <a:t>Big Data Analytics Techniques</a:t>
            </a:r>
            <a:endParaRPr lang="en-US" sz="4000" dirty="0"/>
          </a:p>
        </p:txBody>
      </p:sp>
      <p:sp>
        <p:nvSpPr>
          <p:cNvPr id="3" name="Subtitle 2"/>
          <p:cNvSpPr>
            <a:spLocks noGrp="1"/>
          </p:cNvSpPr>
          <p:nvPr>
            <p:ph type="subTitle" idx="1"/>
          </p:nvPr>
        </p:nvSpPr>
        <p:spPr>
          <a:xfrm>
            <a:off x="152400" y="595746"/>
            <a:ext cx="8763000" cy="6033654"/>
          </a:xfrm>
        </p:spPr>
        <p:txBody>
          <a:bodyPr rtlCol="0">
            <a:normAutofit/>
          </a:bodyPr>
          <a:lstStyle/>
          <a:p>
            <a:pPr algn="just">
              <a:lnSpc>
                <a:spcPct val="120000"/>
              </a:lnSpc>
              <a:spcAft>
                <a:spcPts val="1000"/>
              </a:spcAft>
            </a:pPr>
            <a:r>
              <a:rPr lang="en-US" sz="1800" b="1" dirty="0"/>
              <a:t>Some examples of Big Data Analytics techniques </a:t>
            </a:r>
          </a:p>
          <a:p>
            <a:pPr>
              <a:lnSpc>
                <a:spcPct val="107000"/>
              </a:lnSpc>
              <a:spcAft>
                <a:spcPts val="800"/>
              </a:spcAft>
            </a:pPr>
            <a:r>
              <a:rPr lang="en-US" sz="1800" dirty="0">
                <a:latin typeface="Times New Roman" panose="02020603050405020304" pitchFamily="18" charset="0"/>
                <a:cs typeface="Times New Roman" panose="02020603050405020304" pitchFamily="18" charset="0"/>
              </a:rPr>
              <a:t>Big data analytics techniques refers to the methods used </a:t>
            </a:r>
            <a:r>
              <a:rPr lang="en-US" sz="1800">
                <a:latin typeface="Times New Roman" panose="02020603050405020304" pitchFamily="18" charset="0"/>
                <a:cs typeface="Times New Roman" panose="02020603050405020304" pitchFamily="18" charset="0"/>
              </a:rPr>
              <a:t>to examine </a:t>
            </a:r>
            <a:r>
              <a:rPr lang="en-US" sz="1800" dirty="0">
                <a:latin typeface="Times New Roman" panose="02020603050405020304" pitchFamily="18" charset="0"/>
                <a:cs typeface="Times New Roman" panose="02020603050405020304" pitchFamily="18" charset="0"/>
              </a:rPr>
              <a:t>data and generate useful insights. The following are some examples of Big data analytics techniques:</a:t>
            </a:r>
          </a:p>
          <a:p>
            <a:pPr algn="l"/>
            <a:r>
              <a:rPr lang="en-US" sz="1800" b="1" dirty="0">
                <a:latin typeface="Times New Roman" panose="02020603050405020304" pitchFamily="18" charset="0"/>
                <a:cs typeface="Times New Roman" panose="02020603050405020304" pitchFamily="18" charset="0"/>
              </a:rPr>
              <a:t>Cluster analysis</a:t>
            </a:r>
          </a:p>
          <a:p>
            <a:pPr algn="l"/>
            <a:r>
              <a:rPr lang="en-US" sz="1800" dirty="0">
                <a:latin typeface="Times New Roman" panose="02020603050405020304" pitchFamily="18" charset="0"/>
                <a:cs typeface="Times New Roman" panose="02020603050405020304" pitchFamily="18" charset="0"/>
              </a:rPr>
              <a:t>This refers to the method which divides the input datasets into logical groups of related items. For example, grouping similar news articles, grouping similar customers based on their profile, etc.</a:t>
            </a:r>
          </a:p>
          <a:p>
            <a:pPr algn="l"/>
            <a:r>
              <a:rPr lang="en-US" sz="1800" dirty="0">
                <a:latin typeface="Times New Roman" panose="02020603050405020304" pitchFamily="18" charset="0"/>
                <a:cs typeface="Times New Roman" panose="02020603050405020304" pitchFamily="18" charset="0"/>
              </a:rPr>
              <a:t>It is the method which group the data points into different clusters, consisting of similar data points. </a:t>
            </a:r>
          </a:p>
          <a:p>
            <a:pPr algn="l"/>
            <a:endParaRPr lang="en-US" sz="1800" dirty="0">
              <a:latin typeface="Times New Roman" panose="02020603050405020304" pitchFamily="18" charset="0"/>
              <a:cs typeface="Times New Roman" panose="02020603050405020304" pitchFamily="18" charset="0"/>
            </a:endParaRPr>
          </a:p>
          <a:p>
            <a:endParaRPr lang="en-US" sz="1800" dirty="0">
              <a:latin typeface="Verdana,Bold"/>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36963CD-A90D-0B11-20B0-9B8E45B3A9D5}"/>
              </a:ext>
            </a:extLst>
          </p:cNvPr>
          <p:cNvPicPr>
            <a:picLocks noChangeAspect="1"/>
          </p:cNvPicPr>
          <p:nvPr/>
        </p:nvPicPr>
        <p:blipFill>
          <a:blip r:embed="rId2"/>
          <a:stretch>
            <a:fillRect/>
          </a:stretch>
        </p:blipFill>
        <p:spPr>
          <a:xfrm>
            <a:off x="2895600" y="3886200"/>
            <a:ext cx="3794584" cy="2505584"/>
          </a:xfrm>
          <a:prstGeom prst="rect">
            <a:avLst/>
          </a:prstGeom>
        </p:spPr>
      </p:pic>
    </p:spTree>
    <p:extLst>
      <p:ext uri="{BB962C8B-B14F-4D97-AF65-F5344CB8AC3E}">
        <p14:creationId xmlns:p14="http://schemas.microsoft.com/office/powerpoint/2010/main" val="3853340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57200" y="76200"/>
            <a:ext cx="7837714" cy="519546"/>
          </a:xfrm>
        </p:spPr>
        <p:txBody>
          <a:bodyPr>
            <a:normAutofit fontScale="90000"/>
          </a:bodyPr>
          <a:lstStyle/>
          <a:p>
            <a:pPr algn="ctr"/>
            <a:r>
              <a:rPr lang="en-US" sz="4000" b="1" dirty="0"/>
              <a:t>Big Data Analytics Techniques</a:t>
            </a:r>
            <a:endParaRPr lang="en-US" sz="4000" dirty="0"/>
          </a:p>
        </p:txBody>
      </p:sp>
      <p:sp>
        <p:nvSpPr>
          <p:cNvPr id="3" name="Subtitle 2"/>
          <p:cNvSpPr>
            <a:spLocks noGrp="1"/>
          </p:cNvSpPr>
          <p:nvPr>
            <p:ph type="subTitle" idx="1"/>
          </p:nvPr>
        </p:nvSpPr>
        <p:spPr>
          <a:xfrm>
            <a:off x="152400" y="595746"/>
            <a:ext cx="8763000" cy="6033654"/>
          </a:xfrm>
        </p:spPr>
        <p:txBody>
          <a:bodyPr rtlCol="0">
            <a:normAutofit/>
          </a:bodyPr>
          <a:lstStyle/>
          <a:p>
            <a:pPr algn="just">
              <a:lnSpc>
                <a:spcPct val="120000"/>
              </a:lnSpc>
              <a:spcAft>
                <a:spcPts val="1000"/>
              </a:spcAft>
            </a:pPr>
            <a:r>
              <a:rPr lang="en-US" sz="1800" b="1" dirty="0"/>
              <a:t>Applications of Cluster Analysis</a:t>
            </a:r>
          </a:p>
          <a:p>
            <a:pPr algn="just">
              <a:lnSpc>
                <a:spcPct val="120000"/>
              </a:lnSpc>
              <a:spcAft>
                <a:spcPts val="1000"/>
              </a:spcAft>
            </a:pPr>
            <a:r>
              <a:rPr lang="en-US" sz="1800" dirty="0"/>
              <a:t>The clustering technique can be widely used in various tasks. Some most common uses of cluster analysis are:</a:t>
            </a:r>
          </a:p>
          <a:p>
            <a:pPr algn="just">
              <a:lnSpc>
                <a:spcPct val="120000"/>
              </a:lnSpc>
              <a:spcAft>
                <a:spcPts val="1000"/>
              </a:spcAft>
            </a:pPr>
            <a:r>
              <a:rPr lang="en-US" sz="1800" b="1" dirty="0"/>
              <a:t>Market Segmentation:</a:t>
            </a:r>
          </a:p>
          <a:p>
            <a:pPr marL="313182" indent="-285750" algn="just">
              <a:lnSpc>
                <a:spcPct val="120000"/>
              </a:lnSpc>
              <a:spcAft>
                <a:spcPts val="1000"/>
              </a:spcAft>
              <a:buFont typeface="Wingdings" panose="05000000000000000000" pitchFamily="2" charset="2"/>
              <a:buChar char="Ø"/>
            </a:pPr>
            <a:r>
              <a:rPr lang="en-US" sz="1800" dirty="0"/>
              <a:t>This refers to process of dividing the target market into approachable groups. </a:t>
            </a:r>
          </a:p>
          <a:p>
            <a:pPr marL="313182" indent="-285750" algn="just">
              <a:lnSpc>
                <a:spcPct val="120000"/>
              </a:lnSpc>
              <a:spcAft>
                <a:spcPts val="1000"/>
              </a:spcAft>
              <a:buFont typeface="Wingdings" panose="05000000000000000000" pitchFamily="2" charset="2"/>
              <a:buChar char="Ø"/>
            </a:pPr>
            <a:r>
              <a:rPr lang="en-US" sz="1800" dirty="0"/>
              <a:t>It is the way of creating subsets of a market based on demographics, needs, priorities, common interests, and other psychographic or behavioral criteria used to better understand the target audience</a:t>
            </a:r>
          </a:p>
          <a:p>
            <a:pPr algn="just">
              <a:lnSpc>
                <a:spcPct val="120000"/>
              </a:lnSpc>
              <a:spcAft>
                <a:spcPts val="1000"/>
              </a:spcAft>
            </a:pPr>
            <a:r>
              <a:rPr lang="en-US" sz="1800" b="1" dirty="0"/>
              <a:t>Anomaly detection:</a:t>
            </a:r>
          </a:p>
          <a:p>
            <a:pPr marL="313182" indent="-285750" algn="just">
              <a:lnSpc>
                <a:spcPct val="120000"/>
              </a:lnSpc>
              <a:spcAft>
                <a:spcPts val="1000"/>
              </a:spcAf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Anomaly detection ( also known as outlier detection) is the identification of items, events or observations which do not conform to an expected pattern or behavior in comparison with other items in a given dataset</a:t>
            </a:r>
            <a:endParaRPr lang="en-US" sz="1800" dirty="0"/>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0797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57200" y="76200"/>
            <a:ext cx="7837714" cy="519546"/>
          </a:xfrm>
        </p:spPr>
        <p:txBody>
          <a:bodyPr>
            <a:normAutofit fontScale="90000"/>
          </a:bodyPr>
          <a:lstStyle/>
          <a:p>
            <a:pPr algn="ctr"/>
            <a:r>
              <a:rPr lang="en-US" sz="4000" b="1" dirty="0"/>
              <a:t>Big Data Analytics Techniques</a:t>
            </a:r>
            <a:endParaRPr lang="en-US" sz="4000" dirty="0"/>
          </a:p>
        </p:txBody>
      </p:sp>
      <p:sp>
        <p:nvSpPr>
          <p:cNvPr id="3" name="Subtitle 2"/>
          <p:cNvSpPr>
            <a:spLocks noGrp="1"/>
          </p:cNvSpPr>
          <p:nvPr>
            <p:ph type="subTitle" idx="1"/>
          </p:nvPr>
        </p:nvSpPr>
        <p:spPr>
          <a:xfrm>
            <a:off x="152400" y="595746"/>
            <a:ext cx="4343400" cy="6186053"/>
          </a:xfrm>
        </p:spPr>
        <p:txBody>
          <a:bodyPr rtlCol="0">
            <a:normAutofit fontScale="85000" lnSpcReduction="10000"/>
          </a:bodyPr>
          <a:lstStyle/>
          <a:p>
            <a:pPr algn="just">
              <a:lnSpc>
                <a:spcPct val="120000"/>
              </a:lnSpc>
              <a:spcAft>
                <a:spcPts val="1000"/>
              </a:spcAft>
            </a:pPr>
            <a:r>
              <a:rPr lang="en-US" sz="1800" b="1" dirty="0"/>
              <a:t>Machine learning </a:t>
            </a:r>
          </a:p>
          <a:p>
            <a:pPr marL="313182" indent="-285750" algn="just">
              <a:lnSpc>
                <a:spcPct val="120000"/>
              </a:lnSpc>
              <a:spcAft>
                <a:spcPts val="1000"/>
              </a:spcAft>
              <a:buFont typeface="Wingdings" panose="05000000000000000000" pitchFamily="2" charset="2"/>
              <a:buChar char="Ø"/>
            </a:pPr>
            <a:r>
              <a:rPr lang="en-US" sz="1800" dirty="0"/>
              <a:t>Machine learning is a method that  enables a machine to automatically learn from data, improve performance from experiences, and predict things without being explicitly programmed.</a:t>
            </a:r>
          </a:p>
          <a:p>
            <a:pPr marL="313182" indent="-285750" algn="just">
              <a:lnSpc>
                <a:spcPct val="120000"/>
              </a:lnSpc>
              <a:spcAft>
                <a:spcPts val="1000"/>
              </a:spcAft>
              <a:buFont typeface="Wingdings" panose="05000000000000000000" pitchFamily="2" charset="2"/>
              <a:buChar char="Ø"/>
            </a:pPr>
            <a:r>
              <a:rPr lang="en-US" sz="1800" dirty="0"/>
              <a:t>It the method that allows systems to learn and improve automatically based upon experience.</a:t>
            </a:r>
          </a:p>
          <a:p>
            <a:pPr algn="just">
              <a:lnSpc>
                <a:spcPct val="120000"/>
              </a:lnSpc>
              <a:spcAft>
                <a:spcPts val="1000"/>
              </a:spcAft>
            </a:pPr>
            <a:r>
              <a:rPr lang="en-US" sz="1800" b="1" dirty="0"/>
              <a:t>Applications of Machine learning: </a:t>
            </a:r>
            <a:r>
              <a:rPr lang="en-US" sz="1800" dirty="0"/>
              <a:t>The following are some applications of machine learning</a:t>
            </a:r>
          </a:p>
          <a:p>
            <a:pPr algn="just">
              <a:lnSpc>
                <a:spcPct val="120000"/>
              </a:lnSpc>
              <a:spcAft>
                <a:spcPts val="1000"/>
              </a:spcAft>
            </a:pPr>
            <a:r>
              <a:rPr lang="en-US" sz="1800" b="1" dirty="0"/>
              <a:t>Social Media Features</a:t>
            </a:r>
          </a:p>
          <a:p>
            <a:pPr marL="313182" indent="-285750" algn="just">
              <a:lnSpc>
                <a:spcPct val="120000"/>
              </a:lnSpc>
              <a:spcAft>
                <a:spcPts val="1000"/>
              </a:spcAft>
              <a:buFont typeface="Wingdings" panose="05000000000000000000" pitchFamily="2" charset="2"/>
              <a:buChar char="Ø"/>
            </a:pPr>
            <a:r>
              <a:rPr lang="en-US" sz="1800" dirty="0"/>
              <a:t>Social media platforms use machine learning algorithms to create some attractive and excellent features. </a:t>
            </a:r>
          </a:p>
          <a:p>
            <a:pPr marL="313182" indent="-285750" algn="just">
              <a:lnSpc>
                <a:spcPct val="120000"/>
              </a:lnSpc>
              <a:spcAft>
                <a:spcPts val="1000"/>
              </a:spcAft>
              <a:buFont typeface="Wingdings" panose="05000000000000000000" pitchFamily="2" charset="2"/>
              <a:buChar char="Ø"/>
            </a:pPr>
            <a:r>
              <a:rPr lang="en-US" sz="1800" dirty="0"/>
              <a:t>For instance, Facebook  use chats, users activities, likes, and comments  to make useful recommendations.</a:t>
            </a:r>
          </a:p>
          <a:p>
            <a:endParaRPr lang="en-US" sz="1800" dirty="0">
              <a:latin typeface="Times New Roman" panose="02020603050405020304" pitchFamily="18" charset="0"/>
              <a:cs typeface="Times New Roman" panose="02020603050405020304" pitchFamily="18" charset="0"/>
            </a:endParaRPr>
          </a:p>
        </p:txBody>
      </p:sp>
      <p:sp>
        <p:nvSpPr>
          <p:cNvPr id="2" name="Subtitle 2">
            <a:extLst>
              <a:ext uri="{FF2B5EF4-FFF2-40B4-BE49-F238E27FC236}">
                <a16:creationId xmlns:a16="http://schemas.microsoft.com/office/drawing/2014/main" id="{24EC7A72-534E-98AB-D9EC-87B5DFF06C4B}"/>
              </a:ext>
            </a:extLst>
          </p:cNvPr>
          <p:cNvSpPr txBox="1">
            <a:spLocks/>
          </p:cNvSpPr>
          <p:nvPr/>
        </p:nvSpPr>
        <p:spPr>
          <a:xfrm>
            <a:off x="4572000" y="595746"/>
            <a:ext cx="4343400" cy="6241472"/>
          </a:xfrm>
          <a:prstGeom prst="rect">
            <a:avLst/>
          </a:prstGeom>
        </p:spPr>
        <p:txBody>
          <a:bodyPr tIns="0" rtlCol="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pPr algn="l"/>
            <a:r>
              <a:rPr lang="en-US" sz="1900" b="1" dirty="0"/>
              <a:t>Product Recommendations</a:t>
            </a:r>
          </a:p>
          <a:p>
            <a:pPr marL="313182" indent="-285750" algn="l">
              <a:buFont typeface="Wingdings" panose="05000000000000000000" pitchFamily="2" charset="2"/>
              <a:buChar char="Ø"/>
            </a:pPr>
            <a:r>
              <a:rPr lang="en-US" sz="1900" dirty="0"/>
              <a:t>Product recommendation is one of the most popular and known applications of machine learning. </a:t>
            </a:r>
          </a:p>
          <a:p>
            <a:pPr marL="313182" indent="-285750" algn="l">
              <a:buFont typeface="Wingdings" panose="05000000000000000000" pitchFamily="2" charset="2"/>
              <a:buChar char="Ø"/>
            </a:pPr>
            <a:r>
              <a:rPr lang="en-US" sz="1900" dirty="0"/>
              <a:t>Machine learning use customer behaviors based on the previous purchases, searching patterns, and cart history to make product recommendations.</a:t>
            </a:r>
          </a:p>
          <a:p>
            <a:pPr marL="313182" indent="-285750" algn="l">
              <a:buFont typeface="Wingdings" panose="05000000000000000000" pitchFamily="2" charset="2"/>
              <a:buChar char="Ø"/>
            </a:pPr>
            <a:endParaRPr lang="en-US" sz="1900" dirty="0"/>
          </a:p>
          <a:p>
            <a:pPr algn="l"/>
            <a:r>
              <a:rPr lang="en-US" sz="1900" b="0" i="0" dirty="0">
                <a:solidFill>
                  <a:srgbClr val="272C37"/>
                </a:solidFill>
                <a:effectLst/>
                <a:latin typeface="Roboto" panose="02000000000000000000" pitchFamily="2" charset="0"/>
              </a:rPr>
              <a:t> </a:t>
            </a:r>
            <a:r>
              <a:rPr lang="en-US" sz="1900" b="1" dirty="0"/>
              <a:t>Image Recognition</a:t>
            </a:r>
          </a:p>
          <a:p>
            <a:pPr marL="313182" indent="-285750" algn="l">
              <a:buFont typeface="Wingdings" panose="05000000000000000000" pitchFamily="2" charset="2"/>
              <a:buChar char="Ø"/>
            </a:pPr>
            <a:r>
              <a:rPr lang="en-US" sz="1900" dirty="0"/>
              <a:t>Image recognition use machine learning to detect feature or an object in the digital image</a:t>
            </a:r>
          </a:p>
          <a:p>
            <a:pPr marL="313182" indent="-285750" algn="just">
              <a:lnSpc>
                <a:spcPct val="120000"/>
              </a:lnSpc>
              <a:spcAft>
                <a:spcPts val="1000"/>
              </a:spcAft>
              <a:buFont typeface="Wingdings" panose="05000000000000000000" pitchFamily="2" charset="2"/>
              <a:buChar char="Ø"/>
            </a:pPr>
            <a:endParaRPr lang="en-US" sz="1800" dirty="0"/>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4244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57200" y="76200"/>
            <a:ext cx="7837714" cy="519546"/>
          </a:xfrm>
        </p:spPr>
        <p:txBody>
          <a:bodyPr>
            <a:normAutofit fontScale="90000"/>
          </a:bodyPr>
          <a:lstStyle/>
          <a:p>
            <a:pPr algn="ctr"/>
            <a:r>
              <a:rPr lang="en-US" sz="4000" b="1" dirty="0"/>
              <a:t>Big Data Analytics Techniques</a:t>
            </a:r>
            <a:endParaRPr lang="en-US" sz="4000" dirty="0"/>
          </a:p>
        </p:txBody>
      </p:sp>
      <p:sp>
        <p:nvSpPr>
          <p:cNvPr id="3" name="Subtitle 2"/>
          <p:cNvSpPr>
            <a:spLocks noGrp="1"/>
          </p:cNvSpPr>
          <p:nvPr>
            <p:ph type="subTitle" idx="1"/>
          </p:nvPr>
        </p:nvSpPr>
        <p:spPr>
          <a:xfrm>
            <a:off x="152400" y="595746"/>
            <a:ext cx="8763000" cy="6033654"/>
          </a:xfrm>
        </p:spPr>
        <p:txBody>
          <a:bodyPr rtlCol="0">
            <a:normAutofit/>
          </a:bodyPr>
          <a:lstStyle/>
          <a:p>
            <a:pPr algn="just">
              <a:lnSpc>
                <a:spcPct val="120000"/>
              </a:lnSpc>
              <a:spcAft>
                <a:spcPts val="1000"/>
              </a:spcAft>
            </a:pPr>
            <a:r>
              <a:rPr lang="en-US" sz="1800" b="1" dirty="0"/>
              <a:t>Sentiment Analysis </a:t>
            </a:r>
          </a:p>
          <a:p>
            <a:pPr marL="313182" indent="-285750" algn="l">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Sentiment analysis</a:t>
            </a:r>
            <a:r>
              <a:rPr lang="en-US" sz="1800" dirty="0">
                <a:latin typeface="Times New Roman" panose="02020603050405020304" pitchFamily="18" charset="0"/>
                <a:cs typeface="Times New Roman" panose="02020603050405020304" pitchFamily="18" charset="0"/>
              </a:rPr>
              <a:t>: This refers to the process of computationally identifying and categorizing opinions from piece of texts and determine whether the write’s attitudes toward particular topic or product, is positive, negative, or neutral.</a:t>
            </a:r>
          </a:p>
          <a:p>
            <a:pPr marL="313182" indent="-285750" algn="l">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lgn="l"/>
            <a:endParaRPr lang="en-US" sz="1800" dirty="0">
              <a:latin typeface="Times New Roman" panose="02020603050405020304" pitchFamily="18" charset="0"/>
              <a:cs typeface="Times New Roman" panose="02020603050405020304" pitchFamily="18" charset="0"/>
            </a:endParaRPr>
          </a:p>
          <a:p>
            <a:pPr algn="l"/>
            <a:endParaRPr lang="en-US" sz="1800" dirty="0">
              <a:latin typeface="Times New Roman" panose="02020603050405020304" pitchFamily="18" charset="0"/>
              <a:cs typeface="Times New Roman" panose="02020603050405020304" pitchFamily="18" charset="0"/>
            </a:endParaRPr>
          </a:p>
          <a:p>
            <a:pPr algn="l"/>
            <a:endParaRPr lang="en-US" sz="1800" dirty="0">
              <a:latin typeface="Times New Roman" panose="02020603050405020304" pitchFamily="18" charset="0"/>
              <a:cs typeface="Times New Roman" panose="02020603050405020304" pitchFamily="18" charset="0"/>
            </a:endParaRPr>
          </a:p>
          <a:p>
            <a:pPr marL="313182" indent="-28575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is the method that helps to analyze and the understand the tone of text.</a:t>
            </a:r>
          </a:p>
          <a:p>
            <a:pPr marL="313182" indent="-28575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It is the method of analyzing the emotions of a particular text, such as social media posts.</a:t>
            </a:r>
          </a:p>
          <a:p>
            <a:pPr marL="313182" indent="-285750" algn="l">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It is the computational process which use Natural Language Processing and Machine learning to generate useful insights.</a:t>
            </a:r>
          </a:p>
          <a:p>
            <a:pPr marL="313182" indent="-285750" algn="l">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endParaRPr lang="en-US" sz="1800" dirty="0">
              <a:latin typeface="Verdana,Bold"/>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9C8FA26-517E-65FF-27EC-A7C60799131B}"/>
              </a:ext>
            </a:extLst>
          </p:cNvPr>
          <p:cNvPicPr>
            <a:picLocks noChangeAspect="1"/>
          </p:cNvPicPr>
          <p:nvPr/>
        </p:nvPicPr>
        <p:blipFill>
          <a:blip r:embed="rId2"/>
          <a:stretch>
            <a:fillRect/>
          </a:stretch>
        </p:blipFill>
        <p:spPr>
          <a:xfrm>
            <a:off x="228600" y="4876800"/>
            <a:ext cx="5038725" cy="895350"/>
          </a:xfrm>
          <a:prstGeom prst="rect">
            <a:avLst/>
          </a:prstGeom>
        </p:spPr>
      </p:pic>
      <p:pic>
        <p:nvPicPr>
          <p:cNvPr id="7" name="Picture 6">
            <a:extLst>
              <a:ext uri="{FF2B5EF4-FFF2-40B4-BE49-F238E27FC236}">
                <a16:creationId xmlns:a16="http://schemas.microsoft.com/office/drawing/2014/main" id="{8BDE7362-6A27-611A-C731-5327D9037EA4}"/>
              </a:ext>
            </a:extLst>
          </p:cNvPr>
          <p:cNvPicPr>
            <a:picLocks noChangeAspect="1"/>
          </p:cNvPicPr>
          <p:nvPr/>
        </p:nvPicPr>
        <p:blipFill>
          <a:blip r:embed="rId3"/>
          <a:stretch>
            <a:fillRect/>
          </a:stretch>
        </p:blipFill>
        <p:spPr>
          <a:xfrm>
            <a:off x="1371600" y="2140960"/>
            <a:ext cx="4524375" cy="1114425"/>
          </a:xfrm>
          <a:prstGeom prst="rect">
            <a:avLst/>
          </a:prstGeom>
        </p:spPr>
      </p:pic>
    </p:spTree>
    <p:extLst>
      <p:ext uri="{BB962C8B-B14F-4D97-AF65-F5344CB8AC3E}">
        <p14:creationId xmlns:p14="http://schemas.microsoft.com/office/powerpoint/2010/main" val="196490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457200" y="76200"/>
            <a:ext cx="7837714" cy="519546"/>
          </a:xfrm>
        </p:spPr>
        <p:txBody>
          <a:bodyPr>
            <a:normAutofit fontScale="90000"/>
          </a:bodyPr>
          <a:lstStyle/>
          <a:p>
            <a:pPr algn="ctr"/>
            <a:r>
              <a:rPr lang="en-US" sz="4000" b="1" dirty="0"/>
              <a:t>Big Data Analytics Techniques</a:t>
            </a:r>
            <a:endParaRPr lang="en-US" sz="4000" dirty="0"/>
          </a:p>
        </p:txBody>
      </p:sp>
      <p:sp>
        <p:nvSpPr>
          <p:cNvPr id="3" name="Subtitle 2"/>
          <p:cNvSpPr>
            <a:spLocks noGrp="1"/>
          </p:cNvSpPr>
          <p:nvPr>
            <p:ph type="subTitle" idx="1"/>
          </p:nvPr>
        </p:nvSpPr>
        <p:spPr>
          <a:xfrm>
            <a:off x="152400" y="595746"/>
            <a:ext cx="4572000" cy="6033654"/>
          </a:xfrm>
        </p:spPr>
        <p:txBody>
          <a:bodyPr rtlCol="0">
            <a:normAutofit lnSpcReduction="10000"/>
          </a:bodyPr>
          <a:lstStyle/>
          <a:p>
            <a:pPr algn="just">
              <a:lnSpc>
                <a:spcPct val="120000"/>
              </a:lnSpc>
              <a:spcAft>
                <a:spcPts val="1000"/>
              </a:spcAft>
            </a:pPr>
            <a:r>
              <a:rPr lang="en-US" sz="1800" b="1" dirty="0"/>
              <a:t>Application of Sentiment Analysis </a:t>
            </a:r>
          </a:p>
          <a:p>
            <a:pPr marL="313182"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Some popular sentiment analysis applications include social media monitoring, customer support management, and analyzing customer feedback.</a:t>
            </a:r>
          </a:p>
          <a:p>
            <a:r>
              <a:rPr lang="en-US" sz="1800" b="1" dirty="0">
                <a:latin typeface="Times New Roman" panose="02020603050405020304" pitchFamily="18" charset="0"/>
                <a:cs typeface="Times New Roman" panose="02020603050405020304" pitchFamily="18" charset="0"/>
              </a:rPr>
              <a:t>Social media monitoring</a:t>
            </a:r>
          </a:p>
          <a:p>
            <a:pPr marL="313182" indent="-2857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Social media posts often contain some of the most honest opinions about the products, services, and businesses</a:t>
            </a:r>
          </a:p>
          <a:p>
            <a:pPr>
              <a:lnSpc>
                <a:spcPct val="110000"/>
              </a:lnSpc>
            </a:pPr>
            <a:r>
              <a:rPr lang="en-US" sz="1800" b="1" dirty="0">
                <a:latin typeface="Times New Roman" panose="02020603050405020304" pitchFamily="18" charset="0"/>
                <a:cs typeface="Times New Roman" panose="02020603050405020304" pitchFamily="18" charset="0"/>
              </a:rPr>
              <a:t>Customer support management </a:t>
            </a:r>
          </a:p>
          <a:p>
            <a:pPr marL="313182" indent="-285750">
              <a:lnSpc>
                <a:spcPct val="11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Customer support management presents many challenges due to the sheer number of requests, varied topics, and diverse branches within a company </a:t>
            </a:r>
          </a:p>
          <a:p>
            <a:pPr>
              <a:lnSpc>
                <a:spcPct val="110000"/>
              </a:lnSpc>
            </a:pPr>
            <a:r>
              <a:rPr lang="en-US" sz="1800" b="1" dirty="0">
                <a:latin typeface="Times New Roman" panose="02020603050405020304" pitchFamily="18" charset="0"/>
                <a:cs typeface="Times New Roman" panose="02020603050405020304" pitchFamily="18" charset="0"/>
              </a:rPr>
              <a:t>Brand monitoring and reputation management</a:t>
            </a:r>
          </a:p>
          <a:p>
            <a:pPr marL="313182" indent="-285750">
              <a:lnSpc>
                <a:spcPct val="11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Bad reviews can increase online, and the longer you leave them the worse the situation will be.</a:t>
            </a:r>
          </a:p>
          <a:p>
            <a:endParaRPr lang="en-US" sz="1800" dirty="0">
              <a:latin typeface="Verdana,Bold"/>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2" name="Subtitle 2">
            <a:extLst>
              <a:ext uri="{FF2B5EF4-FFF2-40B4-BE49-F238E27FC236}">
                <a16:creationId xmlns:a16="http://schemas.microsoft.com/office/drawing/2014/main" id="{0111A532-8437-BB42-5796-B6E81D602FEB}"/>
              </a:ext>
            </a:extLst>
          </p:cNvPr>
          <p:cNvSpPr txBox="1">
            <a:spLocks/>
          </p:cNvSpPr>
          <p:nvPr/>
        </p:nvSpPr>
        <p:spPr>
          <a:xfrm>
            <a:off x="4572000" y="748146"/>
            <a:ext cx="4419600" cy="6033654"/>
          </a:xfrm>
          <a:prstGeom prst="rect">
            <a:avLst/>
          </a:prstGeom>
        </p:spPr>
        <p:txBody>
          <a:bodyPr tIns="0" rtlCol="0">
            <a:normAutofit/>
          </a:bodyPr>
          <a:lstStyle>
            <a:lvl1pPr marL="27432" indent="0" algn="l" rtl="0" eaLnBrk="1" latinLnBrk="0" hangingPunct="1">
              <a:lnSpc>
                <a:spcPct val="100000"/>
              </a:lnSpc>
              <a:spcBef>
                <a:spcPts val="600"/>
              </a:spcBef>
              <a:buClr>
                <a:schemeClr val="accent1"/>
              </a:buClr>
              <a:buSzPct val="80000"/>
              <a:buFont typeface="Wingdings 2"/>
              <a:buNone/>
              <a:defRPr kumimoji="0" sz="2600" kern="1200">
                <a:solidFill>
                  <a:schemeClr val="tx2">
                    <a:shade val="30000"/>
                    <a:satMod val="150000"/>
                  </a:schemeClr>
                </a:solidFill>
                <a:latin typeface="+mn-lt"/>
                <a:ea typeface="+mn-ea"/>
                <a:cs typeface="+mn-cs"/>
              </a:defRPr>
            </a:lvl1pPr>
            <a:lvl2pPr marL="457200" indent="0" algn="ctr" rtl="0" eaLnBrk="1" latinLnBrk="0" hangingPunct="1">
              <a:lnSpc>
                <a:spcPct val="100000"/>
              </a:lnSpc>
              <a:spcBef>
                <a:spcPts val="550"/>
              </a:spcBef>
              <a:buClr>
                <a:schemeClr val="accent1"/>
              </a:buClr>
              <a:buFont typeface="Verdana"/>
              <a:buNone/>
              <a:defRPr kumimoji="0" sz="2800" kern="1200">
                <a:solidFill>
                  <a:schemeClr val="tx1"/>
                </a:solidFill>
                <a:latin typeface="+mn-lt"/>
                <a:ea typeface="+mn-ea"/>
                <a:cs typeface="+mn-cs"/>
              </a:defRPr>
            </a:lvl2pPr>
            <a:lvl3pPr marL="914400" indent="0" algn="ctr" rtl="0" eaLnBrk="1" latinLnBrk="0" hangingPunct="1">
              <a:lnSpc>
                <a:spcPct val="100000"/>
              </a:lnSpc>
              <a:spcBef>
                <a:spcPct val="20000"/>
              </a:spcBef>
              <a:buClr>
                <a:schemeClr val="accent2"/>
              </a:buClr>
              <a:buFont typeface="Wingdings 2"/>
              <a:buNone/>
              <a:defRPr kumimoji="0" sz="2400" kern="1200">
                <a:solidFill>
                  <a:schemeClr val="tx1"/>
                </a:solidFill>
                <a:latin typeface="+mn-lt"/>
                <a:ea typeface="+mn-ea"/>
                <a:cs typeface="+mn-cs"/>
              </a:defRPr>
            </a:lvl3pPr>
            <a:lvl4pPr marL="1371600" indent="0" algn="ctr" rtl="0" eaLnBrk="1" latinLnBrk="0" hangingPunct="1">
              <a:lnSpc>
                <a:spcPct val="100000"/>
              </a:lnSpc>
              <a:spcBef>
                <a:spcPct val="20000"/>
              </a:spcBef>
              <a:buClr>
                <a:schemeClr val="accent3"/>
              </a:buClr>
              <a:buFont typeface="Wingdings 2"/>
              <a:buNone/>
              <a:defRPr kumimoji="0" sz="2000" kern="1200">
                <a:solidFill>
                  <a:schemeClr val="tx1"/>
                </a:solidFill>
                <a:latin typeface="+mn-lt"/>
                <a:ea typeface="+mn-ea"/>
                <a:cs typeface="+mn-cs"/>
              </a:defRPr>
            </a:lvl4pPr>
            <a:lvl5pPr marL="1828800" indent="0" algn="ctr" rtl="0" eaLnBrk="1" latinLnBrk="0" hangingPunct="1">
              <a:lnSpc>
                <a:spcPct val="100000"/>
              </a:lnSpc>
              <a:spcBef>
                <a:spcPct val="20000"/>
              </a:spcBef>
              <a:buClr>
                <a:schemeClr val="accent4"/>
              </a:buClr>
              <a:buFont typeface="Wingdings 2"/>
              <a:buNone/>
              <a:defRPr kumimoji="0" sz="2000" kern="1200">
                <a:solidFill>
                  <a:schemeClr val="tx1"/>
                </a:solidFill>
                <a:latin typeface="+mn-lt"/>
                <a:ea typeface="+mn-ea"/>
                <a:cs typeface="+mn-cs"/>
              </a:defRPr>
            </a:lvl5pPr>
            <a:lvl6pPr marL="2286000" indent="0" algn="ctr" rtl="0" eaLnBrk="1" latinLnBrk="0" hangingPunct="1">
              <a:lnSpc>
                <a:spcPct val="100000"/>
              </a:lnSpc>
              <a:spcBef>
                <a:spcPct val="20000"/>
              </a:spcBef>
              <a:buClr>
                <a:schemeClr val="accent5"/>
              </a:buClr>
              <a:buFont typeface="Wingdings 2"/>
              <a:buNone/>
              <a:defRPr kumimoji="0" sz="2000" kern="1200">
                <a:solidFill>
                  <a:schemeClr val="tx1"/>
                </a:solidFill>
                <a:latin typeface="+mn-lt"/>
                <a:ea typeface="+mn-ea"/>
                <a:cs typeface="+mn-cs"/>
              </a:defRPr>
            </a:lvl6pPr>
            <a:lvl7pPr marL="27432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7pPr>
            <a:lvl8pPr marL="32004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8pPr>
            <a:lvl9pPr marL="3657600" indent="0" algn="ctr" rtl="0" eaLnBrk="1" latinLnBrk="0" hangingPunct="1">
              <a:lnSpc>
                <a:spcPct val="100000"/>
              </a:lnSpc>
              <a:spcBef>
                <a:spcPct val="20000"/>
              </a:spcBef>
              <a:buClr>
                <a:schemeClr val="accent6"/>
              </a:buClr>
              <a:buFont typeface="Wingdings 2"/>
              <a:buNone/>
              <a:defRPr kumimoji="0" sz="2000" kern="1200">
                <a:solidFill>
                  <a:schemeClr val="tx1"/>
                </a:solidFill>
                <a:latin typeface="+mn-lt"/>
                <a:ea typeface="+mn-ea"/>
                <a:cs typeface="+mn-cs"/>
              </a:defRPr>
            </a:lvl9pPr>
            <a:extLst/>
          </a:lstStyle>
          <a:p>
            <a:pPr algn="just">
              <a:lnSpc>
                <a:spcPct val="120000"/>
              </a:lnSpc>
              <a:spcAft>
                <a:spcPts val="1000"/>
              </a:spcAft>
            </a:pPr>
            <a:r>
              <a:rPr lang="en-US" sz="1800" b="1" dirty="0"/>
              <a:t>User Comments </a:t>
            </a:r>
          </a:p>
          <a:p>
            <a:endParaRPr lang="en-US" sz="1800" dirty="0">
              <a:latin typeface="Verdana,Bold"/>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3729BC3-2BC1-1EC1-DB23-35B39188AE4F}"/>
              </a:ext>
            </a:extLst>
          </p:cNvPr>
          <p:cNvPicPr>
            <a:picLocks noChangeAspect="1"/>
          </p:cNvPicPr>
          <p:nvPr/>
        </p:nvPicPr>
        <p:blipFill>
          <a:blip r:embed="rId2"/>
          <a:stretch>
            <a:fillRect/>
          </a:stretch>
        </p:blipFill>
        <p:spPr>
          <a:xfrm>
            <a:off x="4703618" y="1122219"/>
            <a:ext cx="4017818" cy="4772025"/>
          </a:xfrm>
          <a:prstGeom prst="rect">
            <a:avLst/>
          </a:prstGeom>
        </p:spPr>
      </p:pic>
      <p:sp>
        <p:nvSpPr>
          <p:cNvPr id="8" name="TextBox 7">
            <a:extLst>
              <a:ext uri="{FF2B5EF4-FFF2-40B4-BE49-F238E27FC236}">
                <a16:creationId xmlns:a16="http://schemas.microsoft.com/office/drawing/2014/main" id="{6CAAC688-B138-6D74-4B9B-D5AD2B45401F}"/>
              </a:ext>
            </a:extLst>
          </p:cNvPr>
          <p:cNvSpPr txBox="1"/>
          <p:nvPr/>
        </p:nvSpPr>
        <p:spPr>
          <a:xfrm>
            <a:off x="6477000" y="2966242"/>
            <a:ext cx="1447800" cy="646331"/>
          </a:xfrm>
          <a:prstGeom prst="rect">
            <a:avLst/>
          </a:prstGeom>
          <a:noFill/>
        </p:spPr>
        <p:txBody>
          <a:bodyPr wrap="square" rtlCol="0">
            <a:spAutoFit/>
          </a:bodyPr>
          <a:lstStyle/>
          <a:p>
            <a:r>
              <a:rPr lang="en-US" dirty="0" err="1"/>
              <a:t>Milard</a:t>
            </a:r>
            <a:r>
              <a:rPr lang="en-US" dirty="0"/>
              <a:t> Ayo Channel</a:t>
            </a:r>
            <a:endParaRPr lang="en-TZ" dirty="0"/>
          </a:p>
        </p:txBody>
      </p:sp>
    </p:spTree>
    <p:extLst>
      <p:ext uri="{BB962C8B-B14F-4D97-AF65-F5344CB8AC3E}">
        <p14:creationId xmlns:p14="http://schemas.microsoft.com/office/powerpoint/2010/main" val="15683273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17479</TotalTime>
  <Words>931</Words>
  <Application>Microsoft Office PowerPoint</Application>
  <PresentationFormat>On-screen Show (4:3)</PresentationFormat>
  <Paragraphs>75</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Calibri</vt:lpstr>
      <vt:lpstr>Gill Sans MT</vt:lpstr>
      <vt:lpstr>Roboto</vt:lpstr>
      <vt:lpstr>Times New Roman</vt:lpstr>
      <vt:lpstr>Verdana</vt:lpstr>
      <vt:lpstr>Verdana,Bold</vt:lpstr>
      <vt:lpstr>Wingdings</vt:lpstr>
      <vt:lpstr>Wingdings 2</vt:lpstr>
      <vt:lpstr>Solstice</vt:lpstr>
      <vt:lpstr>Big Data Analytics Techniques</vt:lpstr>
      <vt:lpstr>Big Data Analytics Techniques</vt:lpstr>
      <vt:lpstr>Big Data Analytics Techniques</vt:lpstr>
      <vt:lpstr>Big Data Analytics Techniques</vt:lpstr>
      <vt:lpstr>Big Data Analytics Techniques</vt:lpstr>
      <vt:lpstr>Big Data Analytics Techniques</vt:lpstr>
      <vt:lpstr>Big Data Analytics Techniques</vt:lpstr>
      <vt:lpstr>Big Data Analytics Techniques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ARCHITECTURE ASSIGNMENT1</dc:title>
  <dc:creator>ALI KHELEF</dc:creator>
  <cp:lastModifiedBy>User</cp:lastModifiedBy>
  <cp:revision>1110</cp:revision>
  <dcterms:created xsi:type="dcterms:W3CDTF">2014-11-03T12:19:02Z</dcterms:created>
  <dcterms:modified xsi:type="dcterms:W3CDTF">2025-01-22T09:29:55Z</dcterms:modified>
</cp:coreProperties>
</file>