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0"/>
  </p:notesMasterIdLst>
  <p:sldIdLst>
    <p:sldId id="428" r:id="rId2"/>
    <p:sldId id="553" r:id="rId3"/>
    <p:sldId id="582" r:id="rId4"/>
    <p:sldId id="578" r:id="rId5"/>
    <p:sldId id="575" r:id="rId6"/>
    <p:sldId id="579" r:id="rId7"/>
    <p:sldId id="581" r:id="rId8"/>
    <p:sldId id="580"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D78B994-A058-40D5-ADC7-E2F660D0C7A2}">
          <p14:sldIdLst>
            <p14:sldId id="428"/>
            <p14:sldId id="553"/>
            <p14:sldId id="582"/>
            <p14:sldId id="578"/>
            <p14:sldId id="575"/>
            <p14:sldId id="579"/>
            <p14:sldId id="581"/>
            <p14:sldId id="58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p:cViewPr varScale="1">
        <p:scale>
          <a:sx n="65" d="100"/>
          <a:sy n="65" d="100"/>
        </p:scale>
        <p:origin x="147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73913A-8E1E-41DD-948F-686AAEFC4C1B}" type="datetimeFigureOut">
              <a:rPr lang="en-US" smtClean="0"/>
              <a:t>11/26/2025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73EC06-D553-4595-823A-3F3D606A0F65}" type="slidenum">
              <a:rPr lang="en-US" smtClean="0"/>
              <a:t>‹#›</a:t>
            </a:fld>
            <a:endParaRPr lang="en-US"/>
          </a:p>
        </p:txBody>
      </p:sp>
    </p:spTree>
    <p:extLst>
      <p:ext uri="{BB962C8B-B14F-4D97-AF65-F5344CB8AC3E}">
        <p14:creationId xmlns:p14="http://schemas.microsoft.com/office/powerpoint/2010/main" val="3050988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8D443A09-2006-424B-B5C4-8FDAF1B52429}" type="datetime1">
              <a:rPr lang="en-US" smtClean="0"/>
              <a:t>11/26/2025</a:t>
            </a:fld>
            <a:endParaRPr lang="en-US"/>
          </a:p>
        </p:txBody>
      </p:sp>
      <p:sp>
        <p:nvSpPr>
          <p:cNvPr id="20" name="Footer Placeholder 19"/>
          <p:cNvSpPr>
            <a:spLocks noGrp="1"/>
          </p:cNvSpPr>
          <p:nvPr>
            <p:ph type="ftr" sz="quarter" idx="11"/>
          </p:nvPr>
        </p:nvSpPr>
        <p:spPr/>
        <p:txBody>
          <a:bodyPr/>
          <a:lstStyle/>
          <a:p>
            <a:r>
              <a:rPr lang="en-US"/>
              <a:t>Advanced Data Science: 1st Presentation</a:t>
            </a:r>
          </a:p>
        </p:txBody>
      </p:sp>
      <p:sp>
        <p:nvSpPr>
          <p:cNvPr id="10" name="Slide Number Placeholder 9"/>
          <p:cNvSpPr>
            <a:spLocks noGrp="1"/>
          </p:cNvSpPr>
          <p:nvPr>
            <p:ph type="sldNum" sz="quarter" idx="12"/>
          </p:nvPr>
        </p:nvSpPr>
        <p:spPr/>
        <p:txBody>
          <a:bodyPr/>
          <a:lstStyle/>
          <a:p>
            <a:fld id="{29A7CF3C-25E9-4E10-B1ED-2924A4A13E9D}"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A4BC8B5-2CA1-4941-8A59-830E2FFEC801}" type="datetime1">
              <a:rPr lang="en-US" smtClean="0"/>
              <a:t>11/26/2025</a:t>
            </a:fld>
            <a:endParaRPr lang="en-US"/>
          </a:p>
        </p:txBody>
      </p:sp>
      <p:sp>
        <p:nvSpPr>
          <p:cNvPr id="5" name="Footer Placeholder 4"/>
          <p:cNvSpPr>
            <a:spLocks noGrp="1"/>
          </p:cNvSpPr>
          <p:nvPr>
            <p:ph type="ftr" sz="quarter" idx="11"/>
          </p:nvPr>
        </p:nvSpPr>
        <p:spPr/>
        <p:txBody>
          <a:bodyPr/>
          <a:lstStyle/>
          <a:p>
            <a:r>
              <a:rPr lang="en-US"/>
              <a:t>Advanced Data Science: 1st Presentation</a:t>
            </a:r>
          </a:p>
        </p:txBody>
      </p:sp>
      <p:sp>
        <p:nvSpPr>
          <p:cNvPr id="6" name="Slide Number Placeholder 5"/>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9CECBAF-DF99-4FBC-994C-E7734C3CE936}" type="datetime1">
              <a:rPr lang="en-US" smtClean="0"/>
              <a:t>11/26/2025</a:t>
            </a:fld>
            <a:endParaRPr lang="en-US"/>
          </a:p>
        </p:txBody>
      </p:sp>
      <p:sp>
        <p:nvSpPr>
          <p:cNvPr id="5" name="Footer Placeholder 4"/>
          <p:cNvSpPr>
            <a:spLocks noGrp="1"/>
          </p:cNvSpPr>
          <p:nvPr>
            <p:ph type="ftr" sz="quarter" idx="11"/>
          </p:nvPr>
        </p:nvSpPr>
        <p:spPr/>
        <p:txBody>
          <a:bodyPr/>
          <a:lstStyle/>
          <a:p>
            <a:r>
              <a:rPr lang="en-US"/>
              <a:t>Advanced Data Science: 1st Presentation</a:t>
            </a:r>
          </a:p>
        </p:txBody>
      </p:sp>
      <p:sp>
        <p:nvSpPr>
          <p:cNvPr id="6" name="Slide Number Placeholder 5"/>
          <p:cNvSpPr>
            <a:spLocks noGrp="1"/>
          </p:cNvSpPr>
          <p:nvPr>
            <p:ph type="sldNum" sz="quarter" idx="12"/>
          </p:nvPr>
        </p:nvSpPr>
        <p:spPr/>
        <p:txBody>
          <a:bodyPr/>
          <a:lstStyle/>
          <a:p>
            <a:fld id="{29A7CF3C-25E9-4E10-B1ED-2924A4A13E9D}"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46D4C13-2E17-462A-8DFD-0920D0C0CA2A}" type="datetime1">
              <a:rPr lang="en-US" smtClean="0"/>
              <a:t>11/26/2025</a:t>
            </a:fld>
            <a:endParaRPr lang="en-US"/>
          </a:p>
        </p:txBody>
      </p:sp>
      <p:sp>
        <p:nvSpPr>
          <p:cNvPr id="6" name="Footer Placeholder 5"/>
          <p:cNvSpPr>
            <a:spLocks noGrp="1"/>
          </p:cNvSpPr>
          <p:nvPr>
            <p:ph type="ftr" sz="quarter" idx="11"/>
          </p:nvPr>
        </p:nvSpPr>
        <p:spPr/>
        <p:txBody>
          <a:bodyPr/>
          <a:lstStyle/>
          <a:p>
            <a:r>
              <a:rPr lang="en-US"/>
              <a:t>Advanced Data Science: 1st Presentation</a:t>
            </a:r>
          </a:p>
        </p:txBody>
      </p:sp>
      <p:sp>
        <p:nvSpPr>
          <p:cNvPr id="7" name="Slide Number Placeholder 6"/>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30E548C-7CAE-4C7E-92FA-14C0E9856AE4}" type="datetime1">
              <a:rPr lang="en-US" smtClean="0"/>
              <a:t>11/26/2025</a:t>
            </a:fld>
            <a:endParaRPr lang="en-US"/>
          </a:p>
        </p:txBody>
      </p:sp>
      <p:sp>
        <p:nvSpPr>
          <p:cNvPr id="8" name="Footer Placeholder 7"/>
          <p:cNvSpPr>
            <a:spLocks noGrp="1"/>
          </p:cNvSpPr>
          <p:nvPr>
            <p:ph type="ftr" sz="quarter" idx="11"/>
          </p:nvPr>
        </p:nvSpPr>
        <p:spPr/>
        <p:txBody>
          <a:bodyPr/>
          <a:lstStyle/>
          <a:p>
            <a:r>
              <a:rPr lang="en-US"/>
              <a:t>Advanced Data Science: 1st Presentation</a:t>
            </a:r>
          </a:p>
        </p:txBody>
      </p:sp>
      <p:sp>
        <p:nvSpPr>
          <p:cNvPr id="9" name="Slide Number Placeholder 8"/>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CD902B65-D183-4E73-86F4-CB4719CCE74B}" type="datetime1">
              <a:rPr lang="en-US" smtClean="0"/>
              <a:t>11/26/2025</a:t>
            </a:fld>
            <a:endParaRPr lang="en-US"/>
          </a:p>
        </p:txBody>
      </p:sp>
      <p:sp>
        <p:nvSpPr>
          <p:cNvPr id="4" name="Footer Placeholder 3"/>
          <p:cNvSpPr>
            <a:spLocks noGrp="1"/>
          </p:cNvSpPr>
          <p:nvPr>
            <p:ph type="ftr" sz="quarter" idx="11"/>
          </p:nvPr>
        </p:nvSpPr>
        <p:spPr/>
        <p:txBody>
          <a:bodyPr/>
          <a:lstStyle/>
          <a:p>
            <a:r>
              <a:rPr lang="en-US"/>
              <a:t>Advanced Data Science: 1st Presentation</a:t>
            </a:r>
          </a:p>
        </p:txBody>
      </p:sp>
      <p:sp>
        <p:nvSpPr>
          <p:cNvPr id="5" name="Slide Number Placeholder 4"/>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9B38BF56-361E-4270-AF78-D214F4C8F8D2}" type="datetime1">
              <a:rPr lang="en-US" smtClean="0"/>
              <a:t>11/26/2025</a:t>
            </a:fld>
            <a:endParaRPr lang="en-US"/>
          </a:p>
        </p:txBody>
      </p:sp>
      <p:sp>
        <p:nvSpPr>
          <p:cNvPr id="3" name="Footer Placeholder 2"/>
          <p:cNvSpPr>
            <a:spLocks noGrp="1"/>
          </p:cNvSpPr>
          <p:nvPr>
            <p:ph type="ftr" sz="quarter" idx="11"/>
          </p:nvPr>
        </p:nvSpPr>
        <p:spPr/>
        <p:txBody>
          <a:bodyPr/>
          <a:lstStyle/>
          <a:p>
            <a:r>
              <a:rPr lang="en-US"/>
              <a:t>Advanced Data Science: 1st Presentation</a:t>
            </a:r>
          </a:p>
        </p:txBody>
      </p:sp>
      <p:sp>
        <p:nvSpPr>
          <p:cNvPr id="4" name="Slide Number Placeholder 3"/>
          <p:cNvSpPr>
            <a:spLocks noGrp="1"/>
          </p:cNvSpPr>
          <p:nvPr>
            <p:ph type="sldNum" sz="quarter" idx="12"/>
          </p:nvPr>
        </p:nvSpPr>
        <p:spPr/>
        <p:txBody>
          <a:bodyPr/>
          <a:lstStyle/>
          <a:p>
            <a:fld id="{29A7CF3C-25E9-4E10-B1ED-2924A4A13E9D}"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69F1885-E745-459C-8E23-33B6E53C3914}" type="datetime1">
              <a:rPr lang="en-US" smtClean="0"/>
              <a:t>11/26/2025</a:t>
            </a:fld>
            <a:endParaRPr lang="en-US"/>
          </a:p>
        </p:txBody>
      </p:sp>
      <p:sp>
        <p:nvSpPr>
          <p:cNvPr id="6" name="Footer Placeholder 5"/>
          <p:cNvSpPr>
            <a:spLocks noGrp="1"/>
          </p:cNvSpPr>
          <p:nvPr>
            <p:ph type="ftr" sz="quarter" idx="11"/>
          </p:nvPr>
        </p:nvSpPr>
        <p:spPr/>
        <p:txBody>
          <a:bodyPr/>
          <a:lstStyle/>
          <a:p>
            <a:r>
              <a:rPr lang="en-US"/>
              <a:t>Advanced Data Science: 1st Presentation</a:t>
            </a:r>
          </a:p>
        </p:txBody>
      </p:sp>
      <p:sp>
        <p:nvSpPr>
          <p:cNvPr id="7" name="Slide Number Placeholder 6"/>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5B5477A4-1834-4EED-B01C-4A4C2D777A35}" type="datetime1">
              <a:rPr lang="en-US" smtClean="0"/>
              <a:t>11/26/2025</a:t>
            </a:fld>
            <a:endParaRPr lang="en-US"/>
          </a:p>
        </p:txBody>
      </p:sp>
      <p:sp>
        <p:nvSpPr>
          <p:cNvPr id="6" name="Footer Placeholder 5"/>
          <p:cNvSpPr>
            <a:spLocks noGrp="1"/>
          </p:cNvSpPr>
          <p:nvPr>
            <p:ph type="ftr" sz="quarter" idx="11"/>
          </p:nvPr>
        </p:nvSpPr>
        <p:spPr/>
        <p:txBody>
          <a:bodyPr/>
          <a:lstStyle/>
          <a:p>
            <a:r>
              <a:rPr lang="en-US"/>
              <a:t>Advanced Data Science: 1st Presentation</a:t>
            </a:r>
          </a:p>
        </p:txBody>
      </p:sp>
      <p:sp>
        <p:nvSpPr>
          <p:cNvPr id="7" name="Slide Number Placeholder 6"/>
          <p:cNvSpPr>
            <a:spLocks noGrp="1"/>
          </p:cNvSpPr>
          <p:nvPr>
            <p:ph type="sldNum" sz="quarter" idx="12"/>
          </p:nvPr>
        </p:nvSpPr>
        <p:spPr/>
        <p:txBody>
          <a:bodyPr/>
          <a:lstStyle/>
          <a:p>
            <a:fld id="{29A7CF3C-25E9-4E10-B1ED-2924A4A13E9D}"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07C87D5-450C-431C-9A54-EB6FAA95E00A}" type="datetime1">
              <a:rPr lang="en-US" smtClean="0"/>
              <a:t>11/26/2025</a:t>
            </a:fld>
            <a:endParaRPr lang="en-US"/>
          </a:p>
        </p:txBody>
      </p:sp>
      <p:sp>
        <p:nvSpPr>
          <p:cNvPr id="5" name="Footer Placeholder 4"/>
          <p:cNvSpPr>
            <a:spLocks noGrp="1"/>
          </p:cNvSpPr>
          <p:nvPr>
            <p:ph type="ftr" sz="quarter" idx="11"/>
          </p:nvPr>
        </p:nvSpPr>
        <p:spPr/>
        <p:txBody>
          <a:bodyPr/>
          <a:lstStyle/>
          <a:p>
            <a:r>
              <a:rPr lang="en-US"/>
              <a:t>Advanced Data Science: 1st Presentation</a:t>
            </a:r>
          </a:p>
        </p:txBody>
      </p:sp>
      <p:sp>
        <p:nvSpPr>
          <p:cNvPr id="6" name="Slide Number Placeholder 5"/>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4DA47A2-18BD-455A-AF06-14A7EC642782}" type="datetime1">
              <a:rPr lang="en-US" smtClean="0"/>
              <a:t>11/26/2025</a:t>
            </a:fld>
            <a:endParaRPr lang="en-US"/>
          </a:p>
        </p:txBody>
      </p:sp>
      <p:sp>
        <p:nvSpPr>
          <p:cNvPr id="5" name="Footer Placeholder 4"/>
          <p:cNvSpPr>
            <a:spLocks noGrp="1"/>
          </p:cNvSpPr>
          <p:nvPr>
            <p:ph type="ftr" sz="quarter" idx="11"/>
          </p:nvPr>
        </p:nvSpPr>
        <p:spPr/>
        <p:txBody>
          <a:bodyPr/>
          <a:lstStyle/>
          <a:p>
            <a:r>
              <a:rPr lang="en-US"/>
              <a:t>Advanced Data Science: 1st Presentation</a:t>
            </a:r>
          </a:p>
        </p:txBody>
      </p:sp>
      <p:sp>
        <p:nvSpPr>
          <p:cNvPr id="6" name="Slide Number Placeholder 5"/>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3CB148EF-C564-471F-9927-04279366D647}" type="datetime1">
              <a:rPr lang="en-US" smtClean="0"/>
              <a:t>11/26/2025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US"/>
              <a:t>Advanced Data Science: 1st Presentation</a:t>
            </a:r>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29A7CF3C-25E9-4E10-B1ED-2924A4A13E9D}"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li.khelef@eastc.ac.tz"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84514" y="3429000"/>
            <a:ext cx="7543800" cy="1295400"/>
          </a:xfrm>
        </p:spPr>
        <p:txBody>
          <a:bodyPr rtlCol="0">
            <a:normAutofit/>
          </a:bodyPr>
          <a:lstStyle/>
          <a:p>
            <a:pPr>
              <a:defRPr/>
            </a:pPr>
            <a:r>
              <a:rPr lang="en-GB" sz="2400" dirty="0"/>
              <a:t>Instructor: Mr.  Ali Khelef</a:t>
            </a:r>
          </a:p>
          <a:p>
            <a:pPr marL="360363">
              <a:defRPr/>
            </a:pPr>
            <a:r>
              <a:rPr lang="en-GB" sz="2400" dirty="0"/>
              <a:t>Assistant Lecturer - EASTC</a:t>
            </a:r>
          </a:p>
          <a:p>
            <a:pPr marL="360363">
              <a:defRPr/>
            </a:pPr>
            <a:r>
              <a:rPr lang="en-GB" sz="2400" dirty="0"/>
              <a:t>Email: </a:t>
            </a:r>
            <a:r>
              <a:rPr lang="en-GB" sz="2400" dirty="0">
                <a:hlinkClick r:id="rId2"/>
              </a:rPr>
              <a:t>ali.khelef@eastc.ac.tz</a:t>
            </a:r>
            <a:endParaRPr lang="en-GB" sz="2400" dirty="0"/>
          </a:p>
          <a:p>
            <a:pPr eaLnBrk="1" fontAlgn="auto" hangingPunct="1">
              <a:spcAft>
                <a:spcPts val="0"/>
              </a:spcAft>
              <a:buFont typeface="Arial" pitchFamily="34" charset="0"/>
              <a:buNone/>
              <a:defRPr/>
            </a:pPr>
            <a:endParaRPr lang="en-US" b="1" dirty="0"/>
          </a:p>
          <a:p>
            <a:pPr marL="4857750" lvl="8" algn="just">
              <a:buFont typeface="Arial" pitchFamily="34" charset="0"/>
              <a:buNone/>
              <a:defRPr/>
            </a:pPr>
            <a:endParaRPr lang="en-US" b="1" dirty="0"/>
          </a:p>
        </p:txBody>
      </p:sp>
      <p:sp>
        <p:nvSpPr>
          <p:cNvPr id="4" name="Title 3"/>
          <p:cNvSpPr>
            <a:spLocks noGrp="1"/>
          </p:cNvSpPr>
          <p:nvPr>
            <p:ph type="ctrTitle"/>
          </p:nvPr>
        </p:nvSpPr>
        <p:spPr>
          <a:xfrm>
            <a:off x="990600" y="228600"/>
            <a:ext cx="7837714" cy="789709"/>
          </a:xfrm>
        </p:spPr>
        <p:txBody>
          <a:bodyPr>
            <a:normAutofit/>
          </a:bodyPr>
          <a:lstStyle/>
          <a:p>
            <a:pPr algn="ctr"/>
            <a:r>
              <a:rPr lang="en-US" sz="4400" b="1" dirty="0"/>
              <a:t>Basics of Big Data</a:t>
            </a:r>
            <a:endParaRPr lang="en-US" sz="4400" dirty="0"/>
          </a:p>
        </p:txBody>
      </p:sp>
    </p:spTree>
    <p:extLst>
      <p:ext uri="{BB962C8B-B14F-4D97-AF65-F5344CB8AC3E}">
        <p14:creationId xmlns:p14="http://schemas.microsoft.com/office/powerpoint/2010/main" val="1619789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57200" y="166254"/>
            <a:ext cx="7837714" cy="789709"/>
          </a:xfrm>
        </p:spPr>
        <p:txBody>
          <a:bodyPr>
            <a:normAutofit/>
          </a:bodyPr>
          <a:lstStyle/>
          <a:p>
            <a:pPr algn="ctr"/>
            <a:r>
              <a:rPr lang="en-US" sz="4400" b="1" dirty="0"/>
              <a:t>Basics of Big Data</a:t>
            </a:r>
            <a:endParaRPr lang="en-US" sz="4400" dirty="0"/>
          </a:p>
        </p:txBody>
      </p:sp>
      <p:sp>
        <p:nvSpPr>
          <p:cNvPr id="5" name="Subtitle 2">
            <a:extLst>
              <a:ext uri="{FF2B5EF4-FFF2-40B4-BE49-F238E27FC236}">
                <a16:creationId xmlns:a16="http://schemas.microsoft.com/office/drawing/2014/main" id="{D336842D-F07C-4133-B295-7865771CC1A6}"/>
              </a:ext>
            </a:extLst>
          </p:cNvPr>
          <p:cNvSpPr txBox="1">
            <a:spLocks/>
          </p:cNvSpPr>
          <p:nvPr/>
        </p:nvSpPr>
        <p:spPr>
          <a:xfrm>
            <a:off x="454742" y="2362201"/>
            <a:ext cx="8534400" cy="3505199"/>
          </a:xfrm>
          <a:prstGeom prst="rect">
            <a:avLst/>
          </a:prstGeom>
        </p:spPr>
        <p:txBody>
          <a:bodyPr tIns="0" rtlCol="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pPr marL="742950" indent="-285750" algn="just">
              <a:lnSpc>
                <a:spcPct val="115000"/>
              </a:lnSpc>
              <a:spcBef>
                <a:spcPts val="1200"/>
              </a:spcBef>
              <a:spcAft>
                <a:spcPts val="500"/>
              </a:spcAft>
              <a:buFont typeface="Wingdings" panose="05000000000000000000" pitchFamily="2" charset="2"/>
              <a:buChar char="Ø"/>
            </a:pPr>
            <a:r>
              <a:rPr lang="en-US" sz="1800" dirty="0">
                <a:latin typeface="Times New Roman" panose="02020603050405020304" pitchFamily="18" charset="0"/>
              </a:rPr>
              <a:t>Describe the concepts of Big Data</a:t>
            </a:r>
            <a:endParaRPr lang="en-TZ" sz="1800" dirty="0">
              <a:latin typeface="Times New Roman" panose="02020603050405020304" pitchFamily="18" charset="0"/>
            </a:endParaRPr>
          </a:p>
          <a:p>
            <a:pPr marL="742950" indent="-285750" algn="just">
              <a:lnSpc>
                <a:spcPct val="115000"/>
              </a:lnSpc>
              <a:spcBef>
                <a:spcPts val="1200"/>
              </a:spcBef>
              <a:spcAft>
                <a:spcPts val="500"/>
              </a:spcAft>
              <a:buFont typeface="Wingdings" panose="05000000000000000000" pitchFamily="2" charset="2"/>
              <a:buChar char="Ø"/>
            </a:pPr>
            <a:r>
              <a:rPr lang="en-US" sz="1800" dirty="0">
                <a:latin typeface="Times New Roman" panose="02020603050405020304" pitchFamily="18" charset="0"/>
              </a:rPr>
              <a:t>Describe the architecture of Big Data</a:t>
            </a:r>
            <a:endParaRPr lang="en-TZ" sz="1800" dirty="0">
              <a:latin typeface="Times New Roman" panose="02020603050405020304" pitchFamily="18" charset="0"/>
            </a:endParaRPr>
          </a:p>
          <a:p>
            <a:pPr marL="742950" indent="-285750" algn="just">
              <a:lnSpc>
                <a:spcPct val="115000"/>
              </a:lnSpc>
              <a:spcBef>
                <a:spcPts val="1200"/>
              </a:spcBef>
              <a:spcAft>
                <a:spcPts val="500"/>
              </a:spcAft>
              <a:buFont typeface="Wingdings" panose="05000000000000000000" pitchFamily="2" charset="2"/>
              <a:buChar char="Ø"/>
            </a:pPr>
            <a:r>
              <a:rPr lang="en-US" sz="1800" dirty="0">
                <a:latin typeface="Times New Roman" panose="02020603050405020304" pitchFamily="18" charset="0"/>
              </a:rPr>
              <a:t>Apply big data processing models to summarize and explore big data</a:t>
            </a:r>
            <a:endParaRPr lang="en-TZ" sz="1800" dirty="0">
              <a:latin typeface="Times New Roman" panose="02020603050405020304" pitchFamily="18" charset="0"/>
            </a:endParaRPr>
          </a:p>
          <a:p>
            <a:pPr marL="742950" indent="-285750" algn="just">
              <a:lnSpc>
                <a:spcPct val="115000"/>
              </a:lnSpc>
              <a:spcBef>
                <a:spcPts val="1200"/>
              </a:spcBef>
              <a:spcAft>
                <a:spcPts val="500"/>
              </a:spcAft>
              <a:buFont typeface="Wingdings" panose="05000000000000000000" pitchFamily="2" charset="2"/>
              <a:buChar char="Ø"/>
            </a:pPr>
            <a:r>
              <a:rPr lang="en-US" sz="1800" dirty="0">
                <a:latin typeface="Times New Roman" panose="02020603050405020304" pitchFamily="18" charset="0"/>
              </a:rPr>
              <a:t>Describe big data analytics techniques</a:t>
            </a:r>
            <a:endParaRPr lang="en-TZ" sz="1800" dirty="0">
              <a:latin typeface="Times New Roman" panose="02020603050405020304" pitchFamily="18" charset="0"/>
            </a:endParaRPr>
          </a:p>
          <a:p>
            <a:pPr marL="598932" indent="-571500">
              <a:buFont typeface="Arial" panose="020B0604020202020204" pitchFamily="34" charset="0"/>
              <a:buChar char="•"/>
              <a:defRPr/>
            </a:pPr>
            <a:endParaRPr lang="en-GB" sz="1800" dirty="0">
              <a:latin typeface="Times New Roman" panose="02020603050405020304" pitchFamily="18" charset="0"/>
              <a:cs typeface="Times New Roman" panose="02020603050405020304" pitchFamily="18" charset="0"/>
            </a:endParaRPr>
          </a:p>
          <a:p>
            <a:pPr>
              <a:buFont typeface="Arial" pitchFamily="34" charset="0"/>
              <a:buNone/>
              <a:defRPr/>
            </a:pPr>
            <a:endParaRPr lang="en-US" b="1" dirty="0"/>
          </a:p>
          <a:p>
            <a:pPr marL="4857750" lvl="8" algn="just">
              <a:buFont typeface="Arial" pitchFamily="34" charset="0"/>
              <a:buNone/>
              <a:defRPr/>
            </a:pPr>
            <a:endParaRPr lang="en-US" b="1" dirty="0"/>
          </a:p>
        </p:txBody>
      </p:sp>
      <p:sp>
        <p:nvSpPr>
          <p:cNvPr id="6" name="Subtitle 5">
            <a:extLst>
              <a:ext uri="{FF2B5EF4-FFF2-40B4-BE49-F238E27FC236}">
                <a16:creationId xmlns:a16="http://schemas.microsoft.com/office/drawing/2014/main" id="{1B6531EB-C27B-42C9-B6BC-92DDB6571C39}"/>
              </a:ext>
            </a:extLst>
          </p:cNvPr>
          <p:cNvSpPr>
            <a:spLocks noGrp="1"/>
          </p:cNvSpPr>
          <p:nvPr>
            <p:ph type="subTitle" idx="1"/>
          </p:nvPr>
        </p:nvSpPr>
        <p:spPr>
          <a:xfrm>
            <a:off x="457200" y="1392623"/>
            <a:ext cx="7406640" cy="664536"/>
          </a:xfrm>
        </p:spPr>
        <p:txBody>
          <a:bodyPr/>
          <a:lstStyle/>
          <a:p>
            <a:pPr algn="ctr"/>
            <a:r>
              <a:rPr lang="en-US" dirty="0"/>
              <a:t>Learning Outcomes</a:t>
            </a:r>
            <a:endParaRPr lang="en-TZ" dirty="0"/>
          </a:p>
        </p:txBody>
      </p:sp>
    </p:spTree>
    <p:extLst>
      <p:ext uri="{BB962C8B-B14F-4D97-AF65-F5344CB8AC3E}">
        <p14:creationId xmlns:p14="http://schemas.microsoft.com/office/powerpoint/2010/main" val="1414303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423B7-EAD8-BEC7-80A4-6E18B2AFB0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9FCF59-89A1-D385-1D2F-3EBB4B477BD0}"/>
              </a:ext>
            </a:extLst>
          </p:cNvPr>
          <p:cNvSpPr>
            <a:spLocks noGrp="1"/>
          </p:cNvSpPr>
          <p:nvPr>
            <p:ph type="ctrTitle"/>
          </p:nvPr>
        </p:nvSpPr>
        <p:spPr>
          <a:xfrm>
            <a:off x="457200" y="166254"/>
            <a:ext cx="7837714" cy="789709"/>
          </a:xfrm>
        </p:spPr>
        <p:txBody>
          <a:bodyPr>
            <a:normAutofit/>
          </a:bodyPr>
          <a:lstStyle/>
          <a:p>
            <a:pPr algn="ctr"/>
            <a:r>
              <a:rPr lang="en-US" sz="4400" b="1" dirty="0"/>
              <a:t>Basics of Big Data</a:t>
            </a:r>
            <a:endParaRPr lang="en-US" sz="4400" dirty="0"/>
          </a:p>
        </p:txBody>
      </p:sp>
      <p:sp>
        <p:nvSpPr>
          <p:cNvPr id="5" name="Subtitle 2">
            <a:extLst>
              <a:ext uri="{FF2B5EF4-FFF2-40B4-BE49-F238E27FC236}">
                <a16:creationId xmlns:a16="http://schemas.microsoft.com/office/drawing/2014/main" id="{35070011-B8FD-8CB2-7D69-7E0AC4C43363}"/>
              </a:ext>
            </a:extLst>
          </p:cNvPr>
          <p:cNvSpPr txBox="1">
            <a:spLocks/>
          </p:cNvSpPr>
          <p:nvPr/>
        </p:nvSpPr>
        <p:spPr>
          <a:xfrm>
            <a:off x="454742" y="2362201"/>
            <a:ext cx="8534400" cy="3505199"/>
          </a:xfrm>
          <a:prstGeom prst="rect">
            <a:avLst/>
          </a:prstGeom>
        </p:spPr>
        <p:txBody>
          <a:bodyPr tIns="0" rtlCol="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pPr marL="800100" indent="-342900" algn="just">
              <a:lnSpc>
                <a:spcPct val="115000"/>
              </a:lnSpc>
              <a:spcBef>
                <a:spcPts val="1200"/>
              </a:spcBef>
              <a:spcAft>
                <a:spcPts val="500"/>
              </a:spcAft>
              <a:buFont typeface="+mj-lt"/>
              <a:buAutoNum type="arabicPeriod"/>
            </a:pPr>
            <a:r>
              <a:rPr lang="en-US" sz="1800" dirty="0">
                <a:latin typeface="Times New Roman" panose="02020603050405020304" pitchFamily="18" charset="0"/>
              </a:rPr>
              <a:t>What is Big Data</a:t>
            </a:r>
            <a:endParaRPr lang="en-TZ" sz="1800" dirty="0">
              <a:latin typeface="Times New Roman" panose="02020603050405020304" pitchFamily="18" charset="0"/>
            </a:endParaRPr>
          </a:p>
          <a:p>
            <a:pPr marL="800100" indent="-342900" algn="just">
              <a:lnSpc>
                <a:spcPct val="115000"/>
              </a:lnSpc>
              <a:spcBef>
                <a:spcPts val="1200"/>
              </a:spcBef>
              <a:spcAft>
                <a:spcPts val="500"/>
              </a:spcAft>
              <a:buFont typeface="+mj-lt"/>
              <a:buAutoNum type="arabicPeriod"/>
            </a:pPr>
            <a:r>
              <a:rPr lang="en-US" sz="1800" dirty="0">
                <a:latin typeface="Times New Roman" panose="02020603050405020304" pitchFamily="18" charset="0"/>
              </a:rPr>
              <a:t>Mention some examples of Big Data</a:t>
            </a:r>
          </a:p>
          <a:p>
            <a:pPr marL="800100" indent="-342900" algn="just">
              <a:lnSpc>
                <a:spcPct val="115000"/>
              </a:lnSpc>
              <a:spcBef>
                <a:spcPts val="1200"/>
              </a:spcBef>
              <a:spcAft>
                <a:spcPts val="500"/>
              </a:spcAft>
              <a:buFont typeface="+mj-lt"/>
              <a:buAutoNum type="arabicPeriod"/>
            </a:pPr>
            <a:r>
              <a:rPr lang="en-US" sz="1800" dirty="0">
                <a:latin typeface="Times New Roman" panose="02020603050405020304" pitchFamily="18" charset="0"/>
              </a:rPr>
              <a:t>What are the main sources of Big Data</a:t>
            </a:r>
          </a:p>
          <a:p>
            <a:pPr marL="800100" indent="-342900" algn="just">
              <a:lnSpc>
                <a:spcPct val="115000"/>
              </a:lnSpc>
              <a:spcBef>
                <a:spcPts val="1200"/>
              </a:spcBef>
              <a:spcAft>
                <a:spcPts val="500"/>
              </a:spcAft>
              <a:buFont typeface="+mj-lt"/>
              <a:buAutoNum type="arabicPeriod"/>
            </a:pPr>
            <a:r>
              <a:rPr lang="en-US" sz="1800" dirty="0">
                <a:latin typeface="Times New Roman" panose="02020603050405020304" pitchFamily="18" charset="0"/>
              </a:rPr>
              <a:t>What are the characteristics of Big Data</a:t>
            </a:r>
          </a:p>
          <a:p>
            <a:pPr marL="598932" indent="-571500">
              <a:buFont typeface="Arial" panose="020B0604020202020204" pitchFamily="34" charset="0"/>
              <a:buChar char="•"/>
              <a:defRPr/>
            </a:pPr>
            <a:endParaRPr lang="en-GB" sz="1800" dirty="0">
              <a:latin typeface="Times New Roman" panose="02020603050405020304" pitchFamily="18" charset="0"/>
              <a:cs typeface="Times New Roman" panose="02020603050405020304" pitchFamily="18" charset="0"/>
            </a:endParaRPr>
          </a:p>
          <a:p>
            <a:pPr>
              <a:buFont typeface="Arial" pitchFamily="34" charset="0"/>
              <a:buNone/>
              <a:defRPr/>
            </a:pPr>
            <a:endParaRPr lang="en-US" b="1" dirty="0"/>
          </a:p>
          <a:p>
            <a:pPr marL="4857750" lvl="8" algn="just">
              <a:buFont typeface="Arial" pitchFamily="34" charset="0"/>
              <a:buNone/>
              <a:defRPr/>
            </a:pPr>
            <a:endParaRPr lang="en-US" b="1" dirty="0"/>
          </a:p>
        </p:txBody>
      </p:sp>
      <p:sp>
        <p:nvSpPr>
          <p:cNvPr id="6" name="Subtitle 5">
            <a:extLst>
              <a:ext uri="{FF2B5EF4-FFF2-40B4-BE49-F238E27FC236}">
                <a16:creationId xmlns:a16="http://schemas.microsoft.com/office/drawing/2014/main" id="{13510E92-A315-B7E9-56B8-EACB743186F2}"/>
              </a:ext>
            </a:extLst>
          </p:cNvPr>
          <p:cNvSpPr>
            <a:spLocks noGrp="1"/>
          </p:cNvSpPr>
          <p:nvPr>
            <p:ph type="subTitle" idx="1"/>
          </p:nvPr>
        </p:nvSpPr>
        <p:spPr>
          <a:xfrm>
            <a:off x="457200" y="1392623"/>
            <a:ext cx="7406640" cy="664536"/>
          </a:xfrm>
        </p:spPr>
        <p:txBody>
          <a:bodyPr/>
          <a:lstStyle/>
          <a:p>
            <a:pPr algn="ctr"/>
            <a:r>
              <a:rPr lang="en-US" dirty="0"/>
              <a:t>Brief Introduction</a:t>
            </a:r>
            <a:r>
              <a:rPr lang="en-US"/>
              <a:t>(Questions)</a:t>
            </a:r>
            <a:endParaRPr lang="en-TZ" dirty="0"/>
          </a:p>
        </p:txBody>
      </p:sp>
    </p:spTree>
    <p:extLst>
      <p:ext uri="{BB962C8B-B14F-4D97-AF65-F5344CB8AC3E}">
        <p14:creationId xmlns:p14="http://schemas.microsoft.com/office/powerpoint/2010/main" val="3129890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3493" y="685801"/>
            <a:ext cx="4267200" cy="6005945"/>
          </a:xfrm>
        </p:spPr>
        <p:txBody>
          <a:bodyPr rtlCol="0">
            <a:normAutofit fontScale="92500" lnSpcReduction="10000"/>
          </a:bodyPr>
          <a:lstStyle/>
          <a:p>
            <a:pPr algn="just">
              <a:lnSpc>
                <a:spcPct val="120000"/>
              </a:lnSpc>
              <a:spcAft>
                <a:spcPts val="1000"/>
              </a:spcAft>
            </a:pPr>
            <a:r>
              <a:rPr lang="en-US" sz="1800" b="1" dirty="0">
                <a:latin typeface="Times New Roman" panose="02020603050405020304" pitchFamily="18" charset="0"/>
                <a:cs typeface="Times New Roman" panose="02020603050405020304" pitchFamily="18" charset="0"/>
              </a:rPr>
              <a:t>Big Data</a:t>
            </a:r>
          </a:p>
          <a:p>
            <a:pPr marL="313182" indent="-285750" algn="just">
              <a:lnSpc>
                <a:spcPct val="120000"/>
              </a:lnSpc>
              <a:spcAft>
                <a:spcPts val="1000"/>
              </a:spcAft>
              <a:buFont typeface="Wingdings" panose="05000000000000000000" pitchFamily="2" charset="2"/>
              <a:buChar char="Ø"/>
            </a:pPr>
            <a:r>
              <a:rPr lang="en-TZ" sz="1800" dirty="0">
                <a:latin typeface="Times New Roman" panose="02020603050405020304" pitchFamily="18" charset="0"/>
                <a:cs typeface="Times New Roman" panose="02020603050405020304" pitchFamily="18" charset="0"/>
              </a:rPr>
              <a:t>Big data</a:t>
            </a:r>
            <a:r>
              <a:rPr lang="en-US" sz="1800" dirty="0">
                <a:latin typeface="Times New Roman" panose="02020603050405020304" pitchFamily="18" charset="0"/>
                <a:cs typeface="Times New Roman" panose="02020603050405020304" pitchFamily="18" charset="0"/>
              </a:rPr>
              <a:t> refers to any </a:t>
            </a:r>
            <a:r>
              <a:rPr lang="en-TZ" sz="1800" dirty="0">
                <a:latin typeface="Times New Roman" panose="02020603050405020304" pitchFamily="18" charset="0"/>
                <a:cs typeface="Times New Roman" panose="02020603050405020304" pitchFamily="18" charset="0"/>
              </a:rPr>
              <a:t>collection of data sets </a:t>
            </a:r>
            <a:r>
              <a:rPr lang="en-US" sz="1800" dirty="0">
                <a:latin typeface="Times New Roman" panose="02020603050405020304" pitchFamily="18" charset="0"/>
                <a:cs typeface="Times New Roman" panose="02020603050405020304" pitchFamily="18" charset="0"/>
              </a:rPr>
              <a:t>which are </a:t>
            </a:r>
            <a:r>
              <a:rPr lang="en-TZ" sz="1800" dirty="0">
                <a:latin typeface="Times New Roman" panose="02020603050405020304" pitchFamily="18" charset="0"/>
                <a:cs typeface="Times New Roman" panose="02020603050405020304" pitchFamily="18" charset="0"/>
              </a:rPr>
              <a:t>so large</a:t>
            </a:r>
            <a:r>
              <a:rPr lang="en-US" sz="1800" dirty="0">
                <a:latin typeface="Times New Roman" panose="02020603050405020304" pitchFamily="18" charset="0"/>
                <a:cs typeface="Times New Roman" panose="02020603050405020304" pitchFamily="18" charset="0"/>
              </a:rPr>
              <a:t> and/</a:t>
            </a:r>
            <a:r>
              <a:rPr lang="en-TZ" sz="1800" dirty="0">
                <a:latin typeface="Times New Roman" panose="02020603050405020304" pitchFamily="18" charset="0"/>
                <a:cs typeface="Times New Roman" panose="02020603050405020304" pitchFamily="18" charset="0"/>
              </a:rPr>
              <a:t> or complex that becomes difficult to</a:t>
            </a:r>
            <a:r>
              <a:rPr lang="en-US" sz="1800" dirty="0">
                <a:latin typeface="Times New Roman" panose="02020603050405020304" pitchFamily="18" charset="0"/>
                <a:cs typeface="Times New Roman" panose="02020603050405020304" pitchFamily="18" charset="0"/>
              </a:rPr>
              <a:t> store, manage, and </a:t>
            </a:r>
            <a:r>
              <a:rPr lang="en-TZ" sz="1800" dirty="0">
                <a:latin typeface="Times New Roman" panose="02020603050405020304" pitchFamily="18" charset="0"/>
                <a:cs typeface="Times New Roman" panose="02020603050405020304" pitchFamily="18" charset="0"/>
              </a:rPr>
              <a:t>process using traditional data management </a:t>
            </a:r>
            <a:r>
              <a:rPr lang="en-US" sz="1800" dirty="0">
                <a:latin typeface="Times New Roman" panose="02020603050405020304" pitchFamily="18" charset="0"/>
                <a:cs typeface="Times New Roman" panose="02020603050405020304" pitchFamily="18" charset="0"/>
              </a:rPr>
              <a:t>t</a:t>
            </a:r>
            <a:r>
              <a:rPr lang="en-TZ" sz="1800" dirty="0">
                <a:latin typeface="Times New Roman" panose="02020603050405020304" pitchFamily="18" charset="0"/>
                <a:cs typeface="Times New Roman" panose="02020603050405020304" pitchFamily="18" charset="0"/>
              </a:rPr>
              <a:t>techniques such as the RDBMS</a:t>
            </a:r>
            <a:r>
              <a:rPr lang="en-US" sz="1800" dirty="0">
                <a:latin typeface="Times New Roman" panose="02020603050405020304" pitchFamily="18" charset="0"/>
                <a:cs typeface="Times New Roman" panose="02020603050405020304" pitchFamily="18" charset="0"/>
              </a:rPr>
              <a:t>.</a:t>
            </a:r>
          </a:p>
          <a:p>
            <a:pPr marL="313182" indent="-285750" algn="just">
              <a:lnSpc>
                <a:spcPct val="12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is a kind of data that is generated at a very large scale with a very high speed which come from different formats. (It includes data such as video, audio, google searches, machine logs, tweets, </a:t>
            </a:r>
            <a:r>
              <a:rPr lang="en-US" sz="1800" dirty="0" err="1">
                <a:latin typeface="Times New Roman" panose="02020603050405020304" pitchFamily="18" charset="0"/>
                <a:cs typeface="Times New Roman" panose="02020603050405020304" pitchFamily="18" charset="0"/>
              </a:rPr>
              <a:t>facebook</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Whatsapp</a:t>
            </a:r>
            <a:r>
              <a:rPr lang="en-US" sz="1800" dirty="0">
                <a:latin typeface="Times New Roman" panose="02020603050405020304" pitchFamily="18" charset="0"/>
                <a:cs typeface="Times New Roman" panose="02020603050405020304" pitchFamily="18" charset="0"/>
              </a:rPr>
              <a:t> charts, </a:t>
            </a:r>
            <a:r>
              <a:rPr lang="en-US" sz="1800" dirty="0" err="1">
                <a:latin typeface="Times New Roman" panose="02020603050405020304" pitchFamily="18" charset="0"/>
                <a:cs typeface="Times New Roman" panose="02020603050405020304" pitchFamily="18" charset="0"/>
              </a:rPr>
              <a:t>etc</a:t>
            </a:r>
            <a:r>
              <a:rPr lang="en-US" sz="1800" dirty="0">
                <a:latin typeface="Times New Roman" panose="02020603050405020304" pitchFamily="18" charset="0"/>
                <a:cs typeface="Times New Roman" panose="02020603050405020304" pitchFamily="18" charset="0"/>
              </a:rPr>
              <a:t>)</a:t>
            </a:r>
          </a:p>
          <a:p>
            <a:pPr marL="313182" indent="-285750" algn="just">
              <a:lnSpc>
                <a:spcPct val="12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Big data needs modern computing technologies such as Hadoop, Cassandra, Google Analytics, </a:t>
            </a:r>
            <a:r>
              <a:rPr lang="en-US" sz="1800" dirty="0" err="1">
                <a:latin typeface="Times New Roman" panose="02020603050405020304" pitchFamily="18" charset="0"/>
                <a:cs typeface="Times New Roman" panose="02020603050405020304" pitchFamily="18" charset="0"/>
              </a:rPr>
              <a:t>etc</a:t>
            </a:r>
            <a:r>
              <a:rPr lang="en-US" sz="1800" dirty="0">
                <a:latin typeface="Times New Roman" panose="02020603050405020304" pitchFamily="18" charset="0"/>
                <a:cs typeface="Times New Roman" panose="02020603050405020304" pitchFamily="18" charset="0"/>
              </a:rPr>
              <a:t> to process and analyze in order to uncover useful information.</a:t>
            </a:r>
          </a:p>
          <a:p>
            <a:pPr marL="4857750" lvl="8" algn="just">
              <a:buFont typeface="Arial" pitchFamily="34" charset="0"/>
              <a:buNone/>
              <a:defRPr/>
            </a:pPr>
            <a:endParaRPr lang="en-US" b="1" dirty="0"/>
          </a:p>
        </p:txBody>
      </p:sp>
      <p:sp>
        <p:nvSpPr>
          <p:cNvPr id="4" name="Title 3"/>
          <p:cNvSpPr>
            <a:spLocks noGrp="1"/>
          </p:cNvSpPr>
          <p:nvPr>
            <p:ph type="ctrTitle"/>
          </p:nvPr>
        </p:nvSpPr>
        <p:spPr>
          <a:xfrm>
            <a:off x="457200" y="166255"/>
            <a:ext cx="7837714" cy="519546"/>
          </a:xfrm>
        </p:spPr>
        <p:txBody>
          <a:bodyPr>
            <a:normAutofit fontScale="90000"/>
          </a:bodyPr>
          <a:lstStyle/>
          <a:p>
            <a:pPr algn="ctr"/>
            <a:r>
              <a:rPr lang="en-US" sz="4400" b="1" dirty="0"/>
              <a:t>What is Big Data?</a:t>
            </a:r>
            <a:endParaRPr lang="en-US" sz="4400" dirty="0"/>
          </a:p>
        </p:txBody>
      </p:sp>
      <p:sp>
        <p:nvSpPr>
          <p:cNvPr id="2" name="Subtitle 2">
            <a:extLst>
              <a:ext uri="{FF2B5EF4-FFF2-40B4-BE49-F238E27FC236}">
                <a16:creationId xmlns:a16="http://schemas.microsoft.com/office/drawing/2014/main" id="{F8A7A30D-DEC8-0C7F-23AE-B108EB23D3E4}"/>
              </a:ext>
            </a:extLst>
          </p:cNvPr>
          <p:cNvSpPr txBox="1">
            <a:spLocks/>
          </p:cNvSpPr>
          <p:nvPr/>
        </p:nvSpPr>
        <p:spPr>
          <a:xfrm>
            <a:off x="4585855" y="692728"/>
            <a:ext cx="4414652" cy="6005945"/>
          </a:xfrm>
          <a:prstGeom prst="rect">
            <a:avLst/>
          </a:prstGeom>
        </p:spPr>
        <p:txBody>
          <a:bodyPr tIns="0" rtlCol="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pPr algn="just">
              <a:lnSpc>
                <a:spcPct val="120000"/>
              </a:lnSpc>
              <a:spcAft>
                <a:spcPts val="1000"/>
              </a:spcAft>
            </a:pPr>
            <a:r>
              <a:rPr lang="en-US" sz="1800" b="1" dirty="0">
                <a:latin typeface="Times New Roman" panose="02020603050405020304" pitchFamily="18" charset="0"/>
                <a:cs typeface="Times New Roman" panose="02020603050405020304" pitchFamily="18" charset="0"/>
              </a:rPr>
              <a:t>Big Data Computing</a:t>
            </a:r>
          </a:p>
          <a:p>
            <a:pPr marL="313182" indent="-285750" algn="just">
              <a:lnSpc>
                <a:spcPct val="120000"/>
              </a:lnSpc>
              <a:spcAft>
                <a:spcPts val="1000"/>
              </a:spcAft>
              <a:buFont typeface="Wingdings" panose="05000000000000000000" pitchFamily="2" charset="2"/>
              <a:buChar char="Ø"/>
            </a:pPr>
            <a:r>
              <a:rPr lang="en-TZ" sz="1700" dirty="0">
                <a:latin typeface="Times New Roman" panose="02020603050405020304" pitchFamily="18" charset="0"/>
                <a:cs typeface="Times New Roman" panose="02020603050405020304" pitchFamily="18" charset="0"/>
              </a:rPr>
              <a:t>Big data </a:t>
            </a:r>
            <a:r>
              <a:rPr lang="en-US" sz="1700">
                <a:latin typeface="Times New Roman" panose="02020603050405020304" pitchFamily="18" charset="0"/>
                <a:cs typeface="Times New Roman" panose="02020603050405020304" pitchFamily="18" charset="0"/>
              </a:rPr>
              <a:t>computing</a:t>
            </a:r>
            <a:r>
              <a:rPr lang="en-TZ" sz="1700">
                <a:latin typeface="Times New Roman" panose="02020603050405020304" pitchFamily="18" charset="0"/>
                <a:cs typeface="Times New Roman" panose="02020603050405020304" pitchFamily="18" charset="0"/>
              </a:rPr>
              <a:t> </a:t>
            </a:r>
            <a:r>
              <a:rPr lang="en-TZ" sz="1700" dirty="0">
                <a:latin typeface="Times New Roman" panose="02020603050405020304" pitchFamily="18" charset="0"/>
                <a:cs typeface="Times New Roman" panose="02020603050405020304" pitchFamily="18" charset="0"/>
              </a:rPr>
              <a:t>deals with collection, storage, processing and analysis of massive-scale data on cloud-based computing systems</a:t>
            </a:r>
            <a:endParaRPr lang="en-US" sz="1700" dirty="0">
              <a:latin typeface="Times New Roman" panose="02020603050405020304" pitchFamily="18" charset="0"/>
              <a:cs typeface="Times New Roman" panose="02020603050405020304" pitchFamily="18" charset="0"/>
            </a:endParaRPr>
          </a:p>
          <a:p>
            <a:pPr marL="4857750" lvl="8" algn="just">
              <a:buFont typeface="Arial" pitchFamily="34" charset="0"/>
              <a:buNone/>
              <a:defRPr/>
            </a:pPr>
            <a:endParaRPr lang="en-US" b="1" dirty="0"/>
          </a:p>
        </p:txBody>
      </p:sp>
      <p:pic>
        <p:nvPicPr>
          <p:cNvPr id="6" name="Picture 5">
            <a:extLst>
              <a:ext uri="{FF2B5EF4-FFF2-40B4-BE49-F238E27FC236}">
                <a16:creationId xmlns:a16="http://schemas.microsoft.com/office/drawing/2014/main" id="{B7924274-C26F-7CC3-C3C1-1C7DAD874245}"/>
              </a:ext>
            </a:extLst>
          </p:cNvPr>
          <p:cNvPicPr>
            <a:picLocks noChangeAspect="1"/>
          </p:cNvPicPr>
          <p:nvPr/>
        </p:nvPicPr>
        <p:blipFill>
          <a:blip r:embed="rId2"/>
          <a:stretch>
            <a:fillRect/>
          </a:stretch>
        </p:blipFill>
        <p:spPr>
          <a:xfrm>
            <a:off x="4764356" y="2576945"/>
            <a:ext cx="4057650" cy="3976255"/>
          </a:xfrm>
          <a:prstGeom prst="rect">
            <a:avLst/>
          </a:prstGeom>
        </p:spPr>
      </p:pic>
    </p:spTree>
    <p:extLst>
      <p:ext uri="{BB962C8B-B14F-4D97-AF65-F5344CB8AC3E}">
        <p14:creationId xmlns:p14="http://schemas.microsoft.com/office/powerpoint/2010/main" val="1500609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712" y="685801"/>
            <a:ext cx="4267200" cy="6005945"/>
          </a:xfrm>
        </p:spPr>
        <p:txBody>
          <a:bodyPr rtlCol="0">
            <a:normAutofit lnSpcReduction="10000"/>
          </a:bodyPr>
          <a:lstStyle/>
          <a:p>
            <a:pPr algn="just">
              <a:lnSpc>
                <a:spcPct val="120000"/>
              </a:lnSpc>
              <a:spcAft>
                <a:spcPts val="1000"/>
              </a:spcAft>
            </a:pPr>
            <a:r>
              <a:rPr lang="en-US" sz="1800" b="1" dirty="0">
                <a:latin typeface="Times New Roman" panose="02020603050405020304" pitchFamily="18" charset="0"/>
                <a:cs typeface="Times New Roman" panose="02020603050405020304" pitchFamily="18" charset="0"/>
              </a:rPr>
              <a:t>Characteristics of Big Data</a:t>
            </a:r>
          </a:p>
          <a:p>
            <a:pPr marL="313182" indent="-285750" algn="just">
              <a:lnSpc>
                <a:spcPct val="110000"/>
              </a:lnSpc>
              <a:spcAft>
                <a:spcPts val="1000"/>
              </a:spcAf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Volume</a:t>
            </a:r>
            <a:r>
              <a:rPr lang="en-US" sz="1800" dirty="0">
                <a:latin typeface="Times New Roman" panose="02020603050405020304" pitchFamily="18" charset="0"/>
                <a:cs typeface="Times New Roman" panose="02020603050405020304" pitchFamily="18" charset="0"/>
              </a:rPr>
              <a:t>: Big data is a data whose volume is so large which requires specialized tools and frameworks to store, process and analyze such data.</a:t>
            </a:r>
          </a:p>
          <a:p>
            <a:pPr marL="313182" indent="-285750" algn="just">
              <a:lnSpc>
                <a:spcPct val="110000"/>
              </a:lnSpc>
              <a:spcAft>
                <a:spcPts val="1000"/>
              </a:spcAf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Velocity</a:t>
            </a:r>
            <a:r>
              <a:rPr lang="en-US" sz="1800" dirty="0">
                <a:latin typeface="Times New Roman" panose="02020603050405020304" pitchFamily="18" charset="0"/>
                <a:cs typeface="Times New Roman" panose="02020603050405020304" pitchFamily="18" charset="0"/>
              </a:rPr>
              <a:t>: Big data are generated by different sources with very high velocities. To get useful insight specialized tools are required  to ingest such high velocity data into big data infrastructure and analyze the data in a real-time. </a:t>
            </a:r>
          </a:p>
          <a:p>
            <a:pPr marL="313182" indent="-285750" algn="just">
              <a:lnSpc>
                <a:spcPct val="120000"/>
              </a:lnSpc>
              <a:spcAft>
                <a:spcPts val="1000"/>
              </a:spcAf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Variety</a:t>
            </a:r>
            <a:r>
              <a:rPr lang="en-US" sz="1800" dirty="0">
                <a:latin typeface="Times New Roman" panose="02020603050405020304" pitchFamily="18" charset="0"/>
                <a:cs typeface="Times New Roman" panose="02020603050405020304" pitchFamily="18" charset="0"/>
              </a:rPr>
              <a:t>: </a:t>
            </a:r>
            <a:r>
              <a:rPr lang="en-TZ" sz="1800" dirty="0">
                <a:latin typeface="Times New Roman" panose="02020603050405020304" pitchFamily="18" charset="0"/>
                <a:cs typeface="Times New Roman" panose="02020603050405020304" pitchFamily="18" charset="0"/>
              </a:rPr>
              <a:t>Big data comes in different forms such as structured,</a:t>
            </a:r>
            <a:r>
              <a:rPr lang="en-US" sz="1800" dirty="0">
                <a:latin typeface="Times New Roman" panose="02020603050405020304" pitchFamily="18" charset="0"/>
                <a:cs typeface="Times New Roman" panose="02020603050405020304" pitchFamily="18" charset="0"/>
              </a:rPr>
              <a:t> </a:t>
            </a:r>
            <a:r>
              <a:rPr lang="en-TZ" sz="1800" dirty="0">
                <a:latin typeface="Times New Roman" panose="02020603050405020304" pitchFamily="18" charset="0"/>
                <a:cs typeface="Times New Roman" panose="02020603050405020304" pitchFamily="18" charset="0"/>
              </a:rPr>
              <a:t>unstructured or semi-structured, including text data, image, audio, video and sensor data. Big</a:t>
            </a:r>
            <a:r>
              <a:rPr lang="en-US" sz="1800" dirty="0">
                <a:latin typeface="Times New Roman" panose="02020603050405020304" pitchFamily="18" charset="0"/>
                <a:cs typeface="Times New Roman" panose="02020603050405020304" pitchFamily="18" charset="0"/>
              </a:rPr>
              <a:t> </a:t>
            </a:r>
            <a:r>
              <a:rPr lang="en-TZ" sz="1800" dirty="0">
                <a:latin typeface="Times New Roman" panose="02020603050405020304" pitchFamily="18" charset="0"/>
                <a:cs typeface="Times New Roman" panose="02020603050405020304" pitchFamily="18" charset="0"/>
              </a:rPr>
              <a:t>data systems need to be flexible enough to handle such variety of data.</a:t>
            </a:r>
          </a:p>
          <a:p>
            <a:pPr marL="313182" indent="-285750" algn="just">
              <a:lnSpc>
                <a:spcPct val="110000"/>
              </a:lnSpc>
              <a:spcAft>
                <a:spcPts val="1000"/>
              </a:spcAft>
              <a:buFont typeface="Wingdings" panose="05000000000000000000" pitchFamily="2" charset="2"/>
              <a:buChar char="Ø"/>
            </a:pPr>
            <a:endParaRPr lang="en-TZ" sz="1800" dirty="0">
              <a:latin typeface="Times New Roman" panose="02020603050405020304" pitchFamily="18" charset="0"/>
              <a:cs typeface="Times New Roman" panose="02020603050405020304" pitchFamily="18" charset="0"/>
            </a:endParaRPr>
          </a:p>
          <a:p>
            <a:pPr marL="4857750" lvl="8" algn="just">
              <a:buFont typeface="Arial" pitchFamily="34" charset="0"/>
              <a:buNone/>
              <a:defRPr/>
            </a:pPr>
            <a:endParaRPr lang="en-US" b="1" dirty="0"/>
          </a:p>
        </p:txBody>
      </p:sp>
      <p:sp>
        <p:nvSpPr>
          <p:cNvPr id="4" name="Title 3"/>
          <p:cNvSpPr>
            <a:spLocks noGrp="1"/>
          </p:cNvSpPr>
          <p:nvPr>
            <p:ph type="ctrTitle"/>
          </p:nvPr>
        </p:nvSpPr>
        <p:spPr>
          <a:xfrm>
            <a:off x="457200" y="166255"/>
            <a:ext cx="7837714" cy="519546"/>
          </a:xfrm>
        </p:spPr>
        <p:txBody>
          <a:bodyPr>
            <a:normAutofit fontScale="90000"/>
          </a:bodyPr>
          <a:lstStyle/>
          <a:p>
            <a:pPr algn="ctr"/>
            <a:r>
              <a:rPr lang="en-US" sz="4400" b="1" dirty="0"/>
              <a:t>5Vs of  Big Data</a:t>
            </a:r>
            <a:endParaRPr lang="en-US" sz="4400" dirty="0"/>
          </a:p>
        </p:txBody>
      </p:sp>
      <p:sp>
        <p:nvSpPr>
          <p:cNvPr id="2" name="Subtitle 2">
            <a:extLst>
              <a:ext uri="{FF2B5EF4-FFF2-40B4-BE49-F238E27FC236}">
                <a16:creationId xmlns:a16="http://schemas.microsoft.com/office/drawing/2014/main" id="{372DC423-A6FC-8CC2-271B-817736C675D0}"/>
              </a:ext>
            </a:extLst>
          </p:cNvPr>
          <p:cNvSpPr txBox="1">
            <a:spLocks/>
          </p:cNvSpPr>
          <p:nvPr/>
        </p:nvSpPr>
        <p:spPr>
          <a:xfrm>
            <a:off x="4572000" y="685800"/>
            <a:ext cx="4267200" cy="6005945"/>
          </a:xfrm>
          <a:prstGeom prst="rect">
            <a:avLst/>
          </a:prstGeom>
        </p:spPr>
        <p:txBody>
          <a:bodyPr tIns="0" rtlCol="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pPr marL="313182" indent="-285750" algn="just">
              <a:lnSpc>
                <a:spcPct val="110000"/>
              </a:lnSpc>
              <a:spcAft>
                <a:spcPts val="1000"/>
              </a:spcAf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Veracity</a:t>
            </a:r>
            <a:r>
              <a:rPr lang="en-US" sz="1800" dirty="0">
                <a:latin typeface="Times New Roman" panose="02020603050405020304" pitchFamily="18" charset="0"/>
                <a:cs typeface="Times New Roman" panose="02020603050405020304" pitchFamily="18" charset="0"/>
              </a:rPr>
              <a:t>: Big data can provide benefits if and only if the data is meaningful and accurate.</a:t>
            </a:r>
            <a:r>
              <a:rPr lang="en-US" sz="1800" dirty="0"/>
              <a:t> </a:t>
            </a:r>
            <a:r>
              <a:rPr lang="en-US" sz="1800" dirty="0">
                <a:latin typeface="Times New Roman" panose="02020603050405020304" pitchFamily="18" charset="0"/>
                <a:cs typeface="Times New Roman" panose="02020603050405020304" pitchFamily="18" charset="0"/>
              </a:rPr>
              <a:t>It ensures that big data is accurate, complete, consistent, and reliable for decision-making. Thus,</a:t>
            </a:r>
            <a:r>
              <a:rPr lang="en-TZ" sz="1800" dirty="0">
                <a:latin typeface="Times New Roman" panose="02020603050405020304" pitchFamily="18" charset="0"/>
                <a:cs typeface="Times New Roman" panose="02020603050405020304" pitchFamily="18" charset="0"/>
              </a:rPr>
              <a:t> cleansing of data is important </a:t>
            </a:r>
            <a:r>
              <a:rPr lang="en-US" sz="1800" dirty="0">
                <a:latin typeface="Times New Roman" panose="02020603050405020304" pitchFamily="18" charset="0"/>
                <a:cs typeface="Times New Roman" panose="02020603050405020304" pitchFamily="18" charset="0"/>
              </a:rPr>
              <a:t>in big data so as to remove </a:t>
            </a:r>
            <a:r>
              <a:rPr lang="en-TZ" sz="1800" dirty="0">
                <a:latin typeface="Times New Roman" panose="02020603050405020304" pitchFamily="18" charset="0"/>
                <a:cs typeface="Times New Roman" panose="02020603050405020304" pitchFamily="18" charset="0"/>
              </a:rPr>
              <a:t>incorrect and faulty data</a:t>
            </a:r>
            <a:r>
              <a:rPr lang="en-US" sz="1800" dirty="0">
                <a:latin typeface="Times New Roman" panose="02020603050405020304" pitchFamily="18" charset="0"/>
                <a:cs typeface="Times New Roman" panose="02020603050405020304" pitchFamily="18" charset="0"/>
              </a:rPr>
              <a:t>. </a:t>
            </a:r>
          </a:p>
          <a:p>
            <a:pPr marL="313182" indent="-285750" algn="just">
              <a:lnSpc>
                <a:spcPct val="110000"/>
              </a:lnSpc>
              <a:spcAft>
                <a:spcPts val="1000"/>
              </a:spcAf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Value</a:t>
            </a:r>
            <a:r>
              <a:rPr lang="en-US" sz="1800" dirty="0">
                <a:latin typeface="Times New Roman" panose="02020603050405020304" pitchFamily="18" charset="0"/>
                <a:cs typeface="Times New Roman" panose="02020603050405020304" pitchFamily="18" charset="0"/>
              </a:rPr>
              <a:t>: </a:t>
            </a:r>
            <a:r>
              <a:rPr lang="en-TZ" sz="1800" dirty="0">
                <a:latin typeface="Times New Roman" panose="02020603050405020304" pitchFamily="18" charset="0"/>
                <a:cs typeface="Times New Roman" panose="02020603050405020304" pitchFamily="18" charset="0"/>
              </a:rPr>
              <a:t>Value of data refers to the usefulness of data for the intended purpose. The end goal of any</a:t>
            </a:r>
            <a:r>
              <a:rPr lang="en-US" sz="1800" dirty="0">
                <a:latin typeface="Times New Roman" panose="02020603050405020304" pitchFamily="18" charset="0"/>
                <a:cs typeface="Times New Roman" panose="02020603050405020304" pitchFamily="18" charset="0"/>
              </a:rPr>
              <a:t> </a:t>
            </a:r>
            <a:r>
              <a:rPr lang="en-TZ" sz="1800" dirty="0">
                <a:latin typeface="Times New Roman" panose="02020603050405020304" pitchFamily="18" charset="0"/>
                <a:cs typeface="Times New Roman" panose="02020603050405020304" pitchFamily="18" charset="0"/>
              </a:rPr>
              <a:t>big data analytics system is to extract value from the data. </a:t>
            </a:r>
            <a:r>
              <a:rPr lang="en-US" sz="1800" dirty="0">
                <a:latin typeface="Times New Roman" panose="02020603050405020304" pitchFamily="18" charset="0"/>
                <a:cs typeface="Times New Roman" panose="02020603050405020304" pitchFamily="18" charset="0"/>
              </a:rPr>
              <a:t>(For example, Disease detection, Better treatment, Reduced cost, </a:t>
            </a:r>
            <a:r>
              <a:rPr lang="en-US" sz="1800" dirty="0" err="1">
                <a:latin typeface="Times New Roman" panose="02020603050405020304" pitchFamily="18" charset="0"/>
                <a:cs typeface="Times New Roman" panose="02020603050405020304" pitchFamily="18" charset="0"/>
              </a:rPr>
              <a:t>etc</a:t>
            </a:r>
            <a:r>
              <a:rPr lang="en-US" sz="1800" dirty="0">
                <a:latin typeface="Times New Roman" panose="02020603050405020304" pitchFamily="18" charset="0"/>
                <a:cs typeface="Times New Roman" panose="02020603050405020304" pitchFamily="18" charset="0"/>
              </a:rPr>
              <a:t>)</a:t>
            </a:r>
            <a:endParaRPr lang="en-TZ" sz="1800" dirty="0">
              <a:latin typeface="Times New Roman" panose="02020603050405020304" pitchFamily="18" charset="0"/>
              <a:cs typeface="Times New Roman" panose="02020603050405020304" pitchFamily="18" charset="0"/>
            </a:endParaRPr>
          </a:p>
          <a:p>
            <a:pPr marL="4857750" lvl="8" algn="just">
              <a:buFont typeface="Arial" pitchFamily="34" charset="0"/>
              <a:buNone/>
              <a:defRPr/>
            </a:pPr>
            <a:endParaRPr lang="en-US" b="1" dirty="0"/>
          </a:p>
        </p:txBody>
      </p:sp>
    </p:spTree>
    <p:extLst>
      <p:ext uri="{BB962C8B-B14F-4D97-AF65-F5344CB8AC3E}">
        <p14:creationId xmlns:p14="http://schemas.microsoft.com/office/powerpoint/2010/main" val="3233463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712" y="685801"/>
            <a:ext cx="8868888" cy="6005945"/>
          </a:xfrm>
        </p:spPr>
        <p:txBody>
          <a:bodyPr rtlCol="0">
            <a:normAutofit/>
          </a:bodyPr>
          <a:lstStyle/>
          <a:p>
            <a:pPr algn="just">
              <a:lnSpc>
                <a:spcPct val="120000"/>
              </a:lnSpc>
              <a:spcAft>
                <a:spcPts val="1000"/>
              </a:spcAft>
            </a:pPr>
            <a:r>
              <a:rPr lang="en-US" sz="1800" b="1" dirty="0">
                <a:latin typeface="Times New Roman" panose="02020603050405020304" pitchFamily="18" charset="0"/>
                <a:cs typeface="Times New Roman" panose="02020603050405020304" pitchFamily="18" charset="0"/>
              </a:rPr>
              <a:t>Activity: Group Work </a:t>
            </a:r>
            <a:r>
              <a:rPr lang="en-US" sz="1800" b="1">
                <a:latin typeface="Times New Roman" panose="02020603050405020304" pitchFamily="18" charset="0"/>
                <a:cs typeface="Times New Roman" panose="02020603050405020304" pitchFamily="18" charset="0"/>
              </a:rPr>
              <a:t>( 20 minutes </a:t>
            </a:r>
            <a:r>
              <a:rPr lang="en-US" sz="1800" b="1" dirty="0">
                <a:latin typeface="Times New Roman" panose="02020603050405020304" pitchFamily="18" charset="0"/>
                <a:cs typeface="Times New Roman" panose="02020603050405020304" pitchFamily="18" charset="0"/>
              </a:rPr>
              <a:t>@ 10 marks)</a:t>
            </a:r>
          </a:p>
          <a:p>
            <a:pPr algn="just">
              <a:lnSpc>
                <a:spcPct val="120000"/>
              </a:lnSpc>
              <a:spcAft>
                <a:spcPts val="1000"/>
              </a:spcAft>
            </a:pPr>
            <a:r>
              <a:rPr lang="en-US" sz="1800" b="1" dirty="0">
                <a:latin typeface="Times New Roman" panose="02020603050405020304" pitchFamily="18" charset="0"/>
                <a:cs typeface="Times New Roman" panose="02020603050405020304" pitchFamily="18" charset="0"/>
              </a:rPr>
              <a:t>Question: </a:t>
            </a:r>
            <a:r>
              <a:rPr lang="en-US" sz="1800" dirty="0">
                <a:latin typeface="Times New Roman" panose="02020603050405020304" pitchFamily="18" charset="0"/>
                <a:cs typeface="Times New Roman" panose="02020603050405020304" pitchFamily="18" charset="0"/>
              </a:rPr>
              <a:t>Discuss and explain the challenges and applications of Big Data</a:t>
            </a:r>
          </a:p>
          <a:p>
            <a:pPr marL="4857750" lvl="8" algn="just">
              <a:buFont typeface="Arial" pitchFamily="34" charset="0"/>
              <a:buNone/>
              <a:defRPr/>
            </a:pPr>
            <a:endParaRPr lang="en-US" b="1" dirty="0"/>
          </a:p>
        </p:txBody>
      </p:sp>
      <p:sp>
        <p:nvSpPr>
          <p:cNvPr id="4" name="Title 3"/>
          <p:cNvSpPr>
            <a:spLocks noGrp="1"/>
          </p:cNvSpPr>
          <p:nvPr>
            <p:ph type="ctrTitle"/>
          </p:nvPr>
        </p:nvSpPr>
        <p:spPr>
          <a:xfrm>
            <a:off x="457200" y="166255"/>
            <a:ext cx="7837714" cy="519546"/>
          </a:xfrm>
        </p:spPr>
        <p:txBody>
          <a:bodyPr>
            <a:normAutofit fontScale="90000"/>
          </a:bodyPr>
          <a:lstStyle/>
          <a:p>
            <a:pPr algn="ctr"/>
            <a:r>
              <a:rPr lang="en-US" sz="4400" b="1" dirty="0"/>
              <a:t>Challenges in Big Data</a:t>
            </a:r>
            <a:endParaRPr lang="en-US" sz="4400" dirty="0"/>
          </a:p>
        </p:txBody>
      </p:sp>
    </p:spTree>
    <p:extLst>
      <p:ext uri="{BB962C8B-B14F-4D97-AF65-F5344CB8AC3E}">
        <p14:creationId xmlns:p14="http://schemas.microsoft.com/office/powerpoint/2010/main" val="3367652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712" y="685801"/>
            <a:ext cx="8868888" cy="6005945"/>
          </a:xfrm>
        </p:spPr>
        <p:txBody>
          <a:bodyPr rtlCol="0">
            <a:normAutofit/>
          </a:bodyPr>
          <a:lstStyle/>
          <a:p>
            <a:pPr algn="just">
              <a:lnSpc>
                <a:spcPct val="120000"/>
              </a:lnSpc>
              <a:spcAft>
                <a:spcPts val="1000"/>
              </a:spcAft>
            </a:pPr>
            <a:r>
              <a:rPr lang="en-US" sz="1800" dirty="0">
                <a:latin typeface="Times New Roman" panose="02020603050405020304" pitchFamily="18" charset="0"/>
                <a:cs typeface="Times New Roman" panose="02020603050405020304" pitchFamily="18" charset="0"/>
              </a:rPr>
              <a:t>Big Data brings a lot of challenges that force the world to come up with powerful tools and technologies to solve the challenges. Some of the challenges are:</a:t>
            </a:r>
          </a:p>
          <a:p>
            <a:pPr marL="313182" indent="-285750" algn="just">
              <a:lnSpc>
                <a:spcPct val="12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Lack of Data Storage due to large scale of data increases every second</a:t>
            </a:r>
          </a:p>
          <a:p>
            <a:pPr marL="313182" indent="-285750" algn="just">
              <a:lnSpc>
                <a:spcPct val="12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Poor security due to poor data sharing mechanisms (cloud computing services, online purchases that leads to sharing of credit card details, </a:t>
            </a:r>
            <a:r>
              <a:rPr lang="en-US" sz="1800" dirty="0" err="1">
                <a:latin typeface="Times New Roman" panose="02020603050405020304" pitchFamily="18" charset="0"/>
                <a:cs typeface="Times New Roman" panose="02020603050405020304" pitchFamily="18" charset="0"/>
              </a:rPr>
              <a:t>etc</a:t>
            </a:r>
            <a:endParaRPr lang="en-US" sz="1800" dirty="0">
              <a:latin typeface="Times New Roman" panose="02020603050405020304" pitchFamily="18" charset="0"/>
              <a:cs typeface="Times New Roman" panose="02020603050405020304" pitchFamily="18" charset="0"/>
            </a:endParaRPr>
          </a:p>
          <a:p>
            <a:pPr marL="313182" indent="-285750" algn="just">
              <a:lnSpc>
                <a:spcPct val="12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Lack of data schema: Big data has no data schema</a:t>
            </a:r>
          </a:p>
          <a:p>
            <a:pPr marL="313182" indent="-285750" algn="just">
              <a:lnSpc>
                <a:spcPct val="12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Lack of data quality: Big data has poor/no data quality, it the job of data scientist to generate data quality with high accuracy in real-time manner.</a:t>
            </a:r>
          </a:p>
          <a:p>
            <a:pPr marL="4857750" lvl="8" algn="just">
              <a:buFont typeface="Arial" pitchFamily="34" charset="0"/>
              <a:buNone/>
              <a:defRPr/>
            </a:pPr>
            <a:endParaRPr lang="en-US" b="1" dirty="0"/>
          </a:p>
        </p:txBody>
      </p:sp>
      <p:sp>
        <p:nvSpPr>
          <p:cNvPr id="4" name="Title 3"/>
          <p:cNvSpPr>
            <a:spLocks noGrp="1"/>
          </p:cNvSpPr>
          <p:nvPr>
            <p:ph type="ctrTitle"/>
          </p:nvPr>
        </p:nvSpPr>
        <p:spPr>
          <a:xfrm>
            <a:off x="457200" y="166255"/>
            <a:ext cx="7837714" cy="519546"/>
          </a:xfrm>
        </p:spPr>
        <p:txBody>
          <a:bodyPr>
            <a:normAutofit fontScale="90000"/>
          </a:bodyPr>
          <a:lstStyle/>
          <a:p>
            <a:pPr algn="ctr"/>
            <a:r>
              <a:rPr lang="en-US" sz="4400" b="1" dirty="0"/>
              <a:t>Challenges of Big Data</a:t>
            </a:r>
            <a:endParaRPr lang="en-US" sz="4400" dirty="0"/>
          </a:p>
        </p:txBody>
      </p:sp>
    </p:spTree>
    <p:extLst>
      <p:ext uri="{BB962C8B-B14F-4D97-AF65-F5344CB8AC3E}">
        <p14:creationId xmlns:p14="http://schemas.microsoft.com/office/powerpoint/2010/main" val="2805811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712" y="685801"/>
            <a:ext cx="8868888" cy="6005945"/>
          </a:xfrm>
        </p:spPr>
        <p:txBody>
          <a:bodyPr rtlCol="0">
            <a:normAutofit/>
          </a:bodyPr>
          <a:lstStyle/>
          <a:p>
            <a:pPr algn="just">
              <a:lnSpc>
                <a:spcPct val="120000"/>
              </a:lnSpc>
              <a:spcAft>
                <a:spcPts val="1000"/>
              </a:spcAft>
            </a:pPr>
            <a:r>
              <a:rPr lang="en-US" sz="1800" dirty="0">
                <a:latin typeface="Times New Roman" panose="02020603050405020304" pitchFamily="18" charset="0"/>
                <a:cs typeface="Times New Roman" panose="02020603050405020304" pitchFamily="18" charset="0"/>
              </a:rPr>
              <a:t>Big Data have many applications in different sectors: Some of them are:</a:t>
            </a:r>
          </a:p>
          <a:p>
            <a:pPr marL="313182" indent="-285750" algn="just">
              <a:lnSpc>
                <a:spcPct val="11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Monitoring financial market activities. Banking and Securities Industry use  network analytics and natural language processors to catch illegal trading activity in the financial markets.</a:t>
            </a:r>
          </a:p>
          <a:p>
            <a:pPr marL="313182" indent="-285750" algn="just">
              <a:lnSpc>
                <a:spcPct val="11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Communications, Media and Entertainment Industries use big data to create content for different target audiences, recommend content on demand, and measure content performance.</a:t>
            </a:r>
            <a:endParaRPr lang="en-TZ" sz="1800" dirty="0">
              <a:latin typeface="Times New Roman" panose="02020603050405020304" pitchFamily="18" charset="0"/>
              <a:cs typeface="Times New Roman" panose="02020603050405020304" pitchFamily="18" charset="0"/>
            </a:endParaRPr>
          </a:p>
          <a:p>
            <a:pPr marL="313182" indent="-285750" algn="just">
              <a:lnSpc>
                <a:spcPct val="11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Health sectors use Big data to provide personalized treatments as a way to combat with the cost of administering several medical/lab tests to all patients who go to the hospital.</a:t>
            </a:r>
            <a:endParaRPr lang="en-TZ" sz="1800" dirty="0">
              <a:latin typeface="Times New Roman" panose="02020603050405020304" pitchFamily="18" charset="0"/>
              <a:cs typeface="Times New Roman" panose="02020603050405020304" pitchFamily="18" charset="0"/>
            </a:endParaRPr>
          </a:p>
          <a:p>
            <a:pPr marL="313182" indent="-285750" algn="just">
              <a:lnSpc>
                <a:spcPct val="11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Retail and Wholesales Industries use big data to optimize staffing, reduce fraud, and provide timely analysis of inventory</a:t>
            </a:r>
            <a:endParaRPr lang="en-TZ" sz="1800" dirty="0">
              <a:latin typeface="Times New Roman" panose="02020603050405020304" pitchFamily="18" charset="0"/>
              <a:cs typeface="Times New Roman" panose="02020603050405020304" pitchFamily="18" charset="0"/>
            </a:endParaRPr>
          </a:p>
          <a:p>
            <a:pPr marL="4857750" lvl="8" algn="just">
              <a:buFont typeface="Arial" pitchFamily="34" charset="0"/>
              <a:buNone/>
              <a:defRPr/>
            </a:pPr>
            <a:endParaRPr lang="en-US" b="1" dirty="0"/>
          </a:p>
        </p:txBody>
      </p:sp>
      <p:sp>
        <p:nvSpPr>
          <p:cNvPr id="4" name="Title 3"/>
          <p:cNvSpPr>
            <a:spLocks noGrp="1"/>
          </p:cNvSpPr>
          <p:nvPr>
            <p:ph type="ctrTitle"/>
          </p:nvPr>
        </p:nvSpPr>
        <p:spPr>
          <a:xfrm>
            <a:off x="457200" y="166255"/>
            <a:ext cx="7837714" cy="519546"/>
          </a:xfrm>
        </p:spPr>
        <p:txBody>
          <a:bodyPr>
            <a:normAutofit fontScale="90000"/>
          </a:bodyPr>
          <a:lstStyle/>
          <a:p>
            <a:pPr algn="ctr"/>
            <a:r>
              <a:rPr lang="en-US" sz="4400" b="1" dirty="0"/>
              <a:t>Applications of Big Data</a:t>
            </a:r>
            <a:endParaRPr lang="en-US" sz="4400" dirty="0"/>
          </a:p>
        </p:txBody>
      </p:sp>
    </p:spTree>
    <p:extLst>
      <p:ext uri="{BB962C8B-B14F-4D97-AF65-F5344CB8AC3E}">
        <p14:creationId xmlns:p14="http://schemas.microsoft.com/office/powerpoint/2010/main" val="30034028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11484</TotalTime>
  <Words>723</Words>
  <Application>Microsoft Office PowerPoint</Application>
  <PresentationFormat>On-screen Show (4:3)</PresentationFormat>
  <Paragraphs>47</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Gill Sans MT</vt:lpstr>
      <vt:lpstr>Times New Roman</vt:lpstr>
      <vt:lpstr>Verdana</vt:lpstr>
      <vt:lpstr>Wingdings</vt:lpstr>
      <vt:lpstr>Wingdings 2</vt:lpstr>
      <vt:lpstr>Solstice</vt:lpstr>
      <vt:lpstr>Basics of Big Data</vt:lpstr>
      <vt:lpstr>Basics of Big Data</vt:lpstr>
      <vt:lpstr>Basics of Big Data</vt:lpstr>
      <vt:lpstr>What is Big Data?</vt:lpstr>
      <vt:lpstr>5Vs of  Big Data</vt:lpstr>
      <vt:lpstr>Challenges in Big Data</vt:lpstr>
      <vt:lpstr>Challenges of Big Data</vt:lpstr>
      <vt:lpstr>Applications of Big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ARCHITECTURE ASSIGNMENT1</dc:title>
  <dc:creator>ALI KHELEF</dc:creator>
  <cp:lastModifiedBy>User</cp:lastModifiedBy>
  <cp:revision>762</cp:revision>
  <dcterms:created xsi:type="dcterms:W3CDTF">2014-11-03T12:19:02Z</dcterms:created>
  <dcterms:modified xsi:type="dcterms:W3CDTF">2025-11-26T06:13:11Z</dcterms:modified>
</cp:coreProperties>
</file>